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films</c:v>
                </c:pt>
              </c:strCache>
            </c:strRef>
          </c:tx>
          <c:spPr>
            <a:solidFill>
              <a:srgbClr val="6750A4"/>
            </a:solidFill>
            <a:effectLst/>
          </c:spPr>
          <c:invertIfNegative val="0"/>
          <c:dLbls>
            <c:numFmt formatCode="0%" sourceLinked="0"/>
            <c:txPr>
              <a:bodyPr/>
              <a:lstStyle/>
              <a:p>
                <a:pPr>
                  <a:defRPr b="0" i="0" strike="noStrike" sz="1100" u="none">
                    <a:solidFill>
                      <a:srgbClr val="4A4752"/>
                    </a:solidFill>
                    <a:latin typeface="Calibri"/>
                  </a:defRPr>
                </a:pPr>
              </a:p>
            </c:txPr>
            <c:showLegendKey val="0"/>
            <c:showVal val="1"/>
            <c:showCatName val="0"/>
            <c:showSerName val="0"/>
            <c:showPercent val="0"/>
            <c:showBubbleSize val="0"/>
            <c:showLeaderLines val="0"/>
          </c:dLbls>
          <c:cat>
            <c:multiLvlStrRef>
              <c:f>Sheet1!$A$2:$A$16</c:f>
              <c:multiLvlStrCache>
                <c:ptCount val="15"/>
                <c:lvl>
                  <c:pt idx="0">
                    <c:v>Western</c:v>
                  </c:pt>
                  <c:pt idx="1">
                    <c:v>War</c:v>
                  </c:pt>
                  <c:pt idx="2">
                    <c:v>Fantasy</c:v>
                  </c:pt>
                  <c:pt idx="3">
                    <c:v>Mystery</c:v>
                  </c:pt>
                  <c:pt idx="4">
                    <c:v>Science Fiction</c:v>
                  </c:pt>
                  <c:pt idx="5">
                    <c:v>Musical</c:v>
                  </c:pt>
                  <c:pt idx="6">
                    <c:v>Family</c:v>
                  </c:pt>
                  <c:pt idx="7">
                    <c:v>Horror</c:v>
                  </c:pt>
                  <c:pt idx="8">
                    <c:v>Crime</c:v>
                  </c:pt>
                  <c:pt idx="9">
                    <c:v>Adventure</c:v>
                  </c:pt>
                  <c:pt idx="10">
                    <c:v>Action</c:v>
                  </c:pt>
                  <c:pt idx="11">
                    <c:v>Thriller</c:v>
                  </c:pt>
                  <c:pt idx="12">
                    <c:v>Romance</c:v>
                  </c:pt>
                  <c:pt idx="13">
                    <c:v>Comedy</c:v>
                  </c:pt>
                  <c:pt idx="14">
                    <c:v>Drama</c:v>
                  </c:pt>
                </c:lvl>
              </c:multiLvlStrCache>
            </c:multiLvlStrRef>
          </c:cat>
          <c:val>
            <c:numRef>
              <c:f>Sheet1!$B$2:$B$16</c:f>
              <c:numCache>
                <c:formatCode>General</c:formatCode>
                <c:ptCount val="15"/>
                <c:pt idx="0">
                  <c:v>0.027</c:v>
                </c:pt>
                <c:pt idx="1">
                  <c:v>0.041</c:v>
                </c:pt>
                <c:pt idx="2">
                  <c:v>0.056</c:v>
                </c:pt>
                <c:pt idx="3">
                  <c:v>0.057</c:v>
                </c:pt>
                <c:pt idx="4">
                  <c:v>0.062</c:v>
                </c:pt>
                <c:pt idx="5">
                  <c:v>0.064</c:v>
                </c:pt>
                <c:pt idx="6">
                  <c:v>0.092</c:v>
                </c:pt>
                <c:pt idx="7">
                  <c:v>0.108</c:v>
                </c:pt>
                <c:pt idx="8">
                  <c:v>0.142</c:v>
                </c:pt>
                <c:pt idx="9">
                  <c:v>0.159</c:v>
                </c:pt>
                <c:pt idx="10">
                  <c:v>0.179</c:v>
                </c:pt>
                <c:pt idx="11">
                  <c:v>0.181</c:v>
                </c:pt>
                <c:pt idx="12">
                  <c:v>0.189</c:v>
                </c:pt>
                <c:pt idx="13">
                  <c:v>0.338</c:v>
                </c:pt>
                <c:pt idx="14">
                  <c:v>0.516</c:v>
                </c:pt>
              </c:numCache>
            </c:numRef>
          </c:val>
        </c:ser>
        <c:dLbls>
          <c:numFmt formatCode="0%" sourceLinked="0"/>
          <c:txPr>
            <a:bodyPr/>
            <a:lstStyle/>
            <a:p>
              <a:pPr>
                <a:defRPr b="0" i="0" strike="noStrike" sz="1100" u="none">
                  <a:solidFill>
                    <a:srgbClr val="4A4752"/>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3C0CC"/>
            </a:solidFill>
            <a:prstDash val="solid"/>
            <a:round/>
          </a:ln>
        </c:spPr>
        <c:txPr>
          <a:bodyPr/>
          <a:lstStyle/>
          <a:p>
            <a:pPr>
              <a:defRPr sz="1200" b="0" i="0" u="none" strike="noStrike">
                <a:solidFill>
                  <a:srgbClr val="4A4752"/>
                </a:solidFill>
                <a:latin typeface="Calibri"/>
              </a:defRPr>
            </a:pPr>
            <a:endParaRPr lang="en-US"/>
          </a:p>
        </c:txPr>
        <c:crossAx val="2094734552"/>
        <c:crosses val="autoZero"/>
        <c:auto val="1"/>
        <c:lblAlgn val="ctr"/>
        <c:noMultiLvlLbl val="1"/>
      </c:catAx>
      <c:valAx>
        <c:axId val="2094734552"/>
        <c:scaling>
          <c:orientation val="minMax"/>
          <c:max val="0.6"/>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8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Validation macro-F1</c:v>
                </c:pt>
              </c:strCache>
            </c:strRef>
          </c:tx>
          <c:spPr>
            <a:solidFill>
              <a:srgbClr val="6750A4"/>
            </a:solidFill>
            <a:ln w="28575" cap="flat">
              <a:solidFill>
                <a:srgbClr val="6750A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6750A4"/>
              </a:solidFill>
              <a:ln w="19050" cap="flat">
                <a:solidFill>
                  <a:srgbClr val="FFFFFF"/>
                </a:solidFill>
                <a:prstDash val="solid"/>
                <a:round/>
              </a:ln>
              <a:effectLst/>
            </c:spPr>
          </c:marker>
          <c:cat>
            <c:multiLvlStrRef>
              <c:f>Sheet1!$A$2:$A$7</c:f>
              <c:multiLvlStrCache>
                <c:ptCount val="6"/>
                <c:lvl>
                  <c:pt idx="0">
                    <c:v>0.25</c:v>
                  </c:pt>
                  <c:pt idx="1">
                    <c:v>0.5</c:v>
                  </c:pt>
                  <c:pt idx="2">
                    <c:v>1</c:v>
                  </c:pt>
                  <c:pt idx="3">
                    <c:v>2</c:v>
                  </c:pt>
                  <c:pt idx="4">
                    <c:v>4</c:v>
                  </c:pt>
                  <c:pt idx="5">
                    <c:v>8</c:v>
                  </c:pt>
                </c:lvl>
              </c:multiLvlStrCache>
            </c:multiLvlStrRef>
          </c:cat>
          <c:val>
            <c:numRef>
              <c:f>Sheet1!$B$2:$B$7</c:f>
              <c:numCache>
                <c:formatCode>General</c:formatCode>
                <c:ptCount val="6"/>
                <c:pt idx="0">
                  <c:v>0.6066</c:v>
                </c:pt>
                <c:pt idx="1">
                  <c:v>0.6128</c:v>
                </c:pt>
                <c:pt idx="2">
                  <c:v>0.6149</c:v>
                </c:pt>
                <c:pt idx="3">
                  <c:v>0.6132</c:v>
                </c:pt>
                <c:pt idx="4">
                  <c:v>0.6081</c:v>
                </c:pt>
                <c:pt idx="5">
                  <c:v>0.6012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6876"/>
                    </a:solidFill>
                    <a:latin typeface="Calibri"/>
                  </a:defRPr>
                </a:pPr>
                <a:r>
                  <a:rPr sz="1200" b="0" i="0" u="none" strike="noStrike">
                    <a:solidFill>
                      <a:srgbClr val="6B6876"/>
                    </a:solidFill>
                    <a:latin typeface="Calibri"/>
                  </a:rPr>
                  <a:t>C</a:t>
                </a:r>
              </a:p>
            </c:rich>
          </c:tx>
          <c:layout/>
          <c:overlay val="0"/>
        </c:title>
        <c:numFmt formatCode="General" sourceLinked="1"/>
        <c:majorTickMark val="out"/>
        <c:minorTickMark val="none"/>
        <c:tickLblPos val="low"/>
        <c:spPr>
          <a:ln w="12700" cap="flat">
            <a:solidFill>
              <a:srgbClr val="C3C0CC"/>
            </a:solidFill>
            <a:prstDash val="solid"/>
            <a:round/>
          </a:ln>
        </c:spPr>
        <c:txPr>
          <a:bodyPr/>
          <a:lstStyle/>
          <a:p>
            <a:pPr>
              <a:defRPr sz="1200" b="0" i="0" u="none" strike="noStrike">
                <a:solidFill>
                  <a:srgbClr val="4A4752"/>
                </a:solidFill>
                <a:latin typeface="Calibri"/>
              </a:defRPr>
            </a:pPr>
            <a:endParaRPr lang="en-US"/>
          </a:p>
        </c:txPr>
        <c:crossAx val="2094734552"/>
        <c:crosses val="autoZero"/>
        <c:auto val="1"/>
        <c:lblAlgn val="ctr"/>
        <c:noMultiLvlLbl val="1"/>
      </c:catAx>
      <c:valAx>
        <c:axId val="2094734552"/>
        <c:scaling>
          <c:orientation val="minMax"/>
          <c:max val="0.62"/>
          <c:min val="0.6"/>
        </c:scaling>
        <c:delete val="0"/>
        <c:axPos val="l"/>
        <c:majorGridlines>
          <c:spPr>
            <a:ln w="9525" cap="flat">
              <a:solidFill>
                <a:srgbClr val="E6E3EC"/>
              </a:solidFill>
              <a:prstDash val="solid"/>
              <a:round/>
            </a:ln>
          </c:spPr>
        </c:majorGridlines>
        <c:title>
          <c:tx>
            <c:rich>
              <a:bodyPr/>
              <a:lstStyle/>
              <a:p>
                <a:pPr>
                  <a:defRPr sz="1200" b="0" i="0" u="none" strike="noStrike">
                    <a:solidFill>
                      <a:srgbClr val="6B6876"/>
                    </a:solidFill>
                    <a:latin typeface="Calibri"/>
                  </a:defRPr>
                </a:pPr>
                <a:r>
                  <a:rPr sz="1200" b="0" i="0" u="none" strike="noStrike">
                    <a:solidFill>
                      <a:srgbClr val="6B6876"/>
                    </a:solidFill>
                    <a:latin typeface="Calibri"/>
                  </a:rPr>
                  <a:t>Validation macro-F1</a:t>
                </a:r>
              </a:p>
            </c:rich>
          </c:tx>
          <c:layout/>
          <c:overlay val="0"/>
        </c:title>
        <c:numFmt formatCode="0.000" sourceLinked="0"/>
        <c:majorTickMark val="out"/>
        <c:minorTickMark val="none"/>
        <c:tickLblPos val="nextTo"/>
        <c:spPr>
          <a:ln w="12700" cap="flat">
            <a:noFill/>
            <a:prstDash val="solid"/>
            <a:round/>
          </a:ln>
        </c:spPr>
        <c:txPr>
          <a:bodyPr/>
          <a:lstStyle/>
          <a:p>
            <a:pPr>
              <a:defRPr sz="1100" b="0" i="0" u="none" strike="noStrike">
                <a:solidFill>
                  <a:srgbClr val="6B6876"/>
                </a:solidFill>
                <a:latin typeface="Calibri"/>
              </a:defRPr>
            </a:pPr>
            <a:endParaRPr lang="en-US"/>
          </a:p>
        </c:txPr>
        <c:crossAx val="2094734554"/>
        <c:crosses val="autoZero"/>
        <c:crossBetween val="between"/>
        <c:majorUnit val="0.0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Tag every film with the genre</c:v>
                </c:pt>
              </c:strCache>
            </c:strRef>
          </c:tx>
          <c:spPr>
            <a:solidFill>
              <a:srgbClr val="8C879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Musical</c:v>
                  </c:pt>
                  <c:pt idx="1">
                    <c:v>Mystery</c:v>
                  </c:pt>
                  <c:pt idx="2">
                    <c:v>Fantasy</c:v>
                  </c:pt>
                  <c:pt idx="3">
                    <c:v>Romance</c:v>
                  </c:pt>
                  <c:pt idx="4">
                    <c:v>Crime</c:v>
                  </c:pt>
                  <c:pt idx="5">
                    <c:v>Thriller</c:v>
                  </c:pt>
                  <c:pt idx="6">
                    <c:v>Adventure</c:v>
                  </c:pt>
                  <c:pt idx="7">
                    <c:v>War</c:v>
                  </c:pt>
                  <c:pt idx="8">
                    <c:v>Family</c:v>
                  </c:pt>
                  <c:pt idx="9">
                    <c:v>Action</c:v>
                  </c:pt>
                  <c:pt idx="10">
                    <c:v>Science Fiction</c:v>
                  </c:pt>
                  <c:pt idx="11">
                    <c:v>Comedy</c:v>
                  </c:pt>
                  <c:pt idx="12">
                    <c:v>Western</c:v>
                  </c:pt>
                  <c:pt idx="13">
                    <c:v>Horror</c:v>
                  </c:pt>
                  <c:pt idx="14">
                    <c:v>Drama</c:v>
                  </c:pt>
                </c:lvl>
              </c:multiLvlStrCache>
            </c:multiLvlStrRef>
          </c:cat>
          <c:val>
            <c:numRef>
              <c:f>Sheet1!$B$2:$B$16</c:f>
              <c:numCache>
                <c:formatCode>General</c:formatCode>
                <c:ptCount val="15"/>
                <c:pt idx="0">
                  <c:v>0.124</c:v>
                </c:pt>
                <c:pt idx="1">
                  <c:v>0.099</c:v>
                </c:pt>
                <c:pt idx="2">
                  <c:v>0.114</c:v>
                </c:pt>
                <c:pt idx="3">
                  <c:v>0.329</c:v>
                </c:pt>
                <c:pt idx="4">
                  <c:v>0.238</c:v>
                </c:pt>
                <c:pt idx="5">
                  <c:v>0.307</c:v>
                </c:pt>
                <c:pt idx="6">
                  <c:v>0.28</c:v>
                </c:pt>
                <c:pt idx="7">
                  <c:v>0.077</c:v>
                </c:pt>
                <c:pt idx="8">
                  <c:v>0.168</c:v>
                </c:pt>
                <c:pt idx="9">
                  <c:v>0.304</c:v>
                </c:pt>
                <c:pt idx="10">
                  <c:v>0.112</c:v>
                </c:pt>
                <c:pt idx="11">
                  <c:v>0.499</c:v>
                </c:pt>
                <c:pt idx="12">
                  <c:v>0.052</c:v>
                </c:pt>
                <c:pt idx="13">
                  <c:v>0.192</c:v>
                </c:pt>
                <c:pt idx="14">
                  <c:v>0.688</c:v>
                </c:pt>
              </c:numCache>
            </c:numRef>
          </c:val>
        </c:ser>
        <c:ser>
          <c:idx val="1"/>
          <c:order val="1"/>
          <c:tx>
            <c:strRef>
              <c:f>Sheet1!$C$1</c:f>
              <c:strCache>
                <c:ptCount val="1"/>
                <c:pt idx="0">
                  <c:v>This model</c:v>
                </c:pt>
              </c:strCache>
            </c:strRef>
          </c:tx>
          <c:spPr>
            <a:solidFill>
              <a:srgbClr val="6750A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Musical</c:v>
                  </c:pt>
                  <c:pt idx="1">
                    <c:v>Mystery</c:v>
                  </c:pt>
                  <c:pt idx="2">
                    <c:v>Fantasy</c:v>
                  </c:pt>
                  <c:pt idx="3">
                    <c:v>Romance</c:v>
                  </c:pt>
                  <c:pt idx="4">
                    <c:v>Crime</c:v>
                  </c:pt>
                  <c:pt idx="5">
                    <c:v>Thriller</c:v>
                  </c:pt>
                  <c:pt idx="6">
                    <c:v>Adventure</c:v>
                  </c:pt>
                  <c:pt idx="7">
                    <c:v>War</c:v>
                  </c:pt>
                  <c:pt idx="8">
                    <c:v>Family</c:v>
                  </c:pt>
                  <c:pt idx="9">
                    <c:v>Action</c:v>
                  </c:pt>
                  <c:pt idx="10">
                    <c:v>Science Fiction</c:v>
                  </c:pt>
                  <c:pt idx="11">
                    <c:v>Comedy</c:v>
                  </c:pt>
                  <c:pt idx="12">
                    <c:v>Western</c:v>
                  </c:pt>
                  <c:pt idx="13">
                    <c:v>Horror</c:v>
                  </c:pt>
                  <c:pt idx="14">
                    <c:v>Drama</c:v>
                  </c:pt>
                </c:lvl>
              </c:multiLvlStrCache>
            </c:multiLvlStrRef>
          </c:cat>
          <c:val>
            <c:numRef>
              <c:f>Sheet1!$C$2:$C$16</c:f>
              <c:numCache>
                <c:formatCode>General</c:formatCode>
                <c:ptCount val="15"/>
                <c:pt idx="0">
                  <c:v>0.378</c:v>
                </c:pt>
                <c:pt idx="1">
                  <c:v>0.422</c:v>
                </c:pt>
                <c:pt idx="2">
                  <c:v>0.43</c:v>
                </c:pt>
                <c:pt idx="3">
                  <c:v>0.568</c:v>
                </c:pt>
                <c:pt idx="4">
                  <c:v>0.572</c:v>
                </c:pt>
                <c:pt idx="5">
                  <c:v>0.573</c:v>
                </c:pt>
                <c:pt idx="6">
                  <c:v>0.588</c:v>
                </c:pt>
                <c:pt idx="7">
                  <c:v>0.588</c:v>
                </c:pt>
                <c:pt idx="8">
                  <c:v>0.617</c:v>
                </c:pt>
                <c:pt idx="9">
                  <c:v>0.641</c:v>
                </c:pt>
                <c:pt idx="10">
                  <c:v>0.657</c:v>
                </c:pt>
                <c:pt idx="11">
                  <c:v>0.666</c:v>
                </c:pt>
                <c:pt idx="12">
                  <c:v>0.746</c:v>
                </c:pt>
                <c:pt idx="13">
                  <c:v>0.747</c:v>
                </c:pt>
                <c:pt idx="14">
                  <c:v>0.776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3C0CC"/>
            </a:solidFill>
            <a:prstDash val="solid"/>
            <a:round/>
          </a:ln>
        </c:spPr>
        <c:txPr>
          <a:bodyPr/>
          <a:lstStyle/>
          <a:p>
            <a:pPr>
              <a:defRPr sz="1200" b="0" i="0" u="none" strike="noStrike">
                <a:solidFill>
                  <a:srgbClr val="4A4752"/>
                </a:solidFill>
                <a:latin typeface="Calibri"/>
              </a:defRPr>
            </a:pPr>
            <a:endParaRPr lang="en-US"/>
          </a:p>
        </c:txPr>
        <c:crossAx val="2094734552"/>
        <c:crosses val="autoZero"/>
        <c:auto val="1"/>
        <c:lblAlgn val="ctr"/>
        <c:noMultiLvlLbl val="1"/>
      </c:catAx>
      <c:valAx>
        <c:axId val="2094734552"/>
        <c:scaling>
          <c:orientation val="minMax"/>
          <c:max val="0.8"/>
          <c:min val="0"/>
        </c:scaling>
        <c:delete val="0"/>
        <c:axPos val="b"/>
        <c:majorGridlines>
          <c:spPr>
            <a:ln w="9525" cap="flat">
              <a:solidFill>
                <a:srgbClr val="E6E3EC"/>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6B6876"/>
                </a:solidFill>
                <a:latin typeface="Calibri"/>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3A364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Change in F1</c:v>
                </c:pt>
              </c:strCache>
            </c:strRef>
          </c:tx>
          <c:spPr>
            <a:solidFill>
              <a:srgbClr val="6750A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C9772B"/>
              </a:solidFill>
              <a:effectLst/>
            </c:spPr>
          </c:dPt>
          <c:dPt>
            <c:idx val="1"/>
            <c:invertIfNegative val="0"/>
            <c:bubble3D val="0"/>
            <c:spPr>
              <a:solidFill>
                <a:srgbClr val="C9772B"/>
              </a:solidFill>
              <a:effectLst/>
            </c:spPr>
          </c:dPt>
          <c:dPt>
            <c:idx val="2"/>
            <c:invertIfNegative val="0"/>
            <c:bubble3D val="0"/>
            <c:spPr>
              <a:solidFill>
                <a:srgbClr val="C9772B"/>
              </a:solidFill>
              <a:effectLst/>
            </c:spPr>
          </c:dPt>
          <c:dPt>
            <c:idx val="3"/>
            <c:invertIfNegative val="0"/>
            <c:bubble3D val="0"/>
            <c:spPr>
              <a:solidFill>
                <a:srgbClr val="C9772B"/>
              </a:solidFill>
              <a:effectLst/>
            </c:spPr>
          </c:dPt>
          <c:dPt>
            <c:idx val="4"/>
            <c:invertIfNegative val="0"/>
            <c:bubble3D val="0"/>
            <c:spPr>
              <a:solidFill>
                <a:srgbClr val="C9772B"/>
              </a:solidFill>
              <a:effectLst/>
            </c:spPr>
          </c:dPt>
          <c:dPt>
            <c:idx val="5"/>
            <c:invertIfNegative val="0"/>
            <c:bubble3D val="0"/>
            <c:spPr>
              <a:solidFill>
                <a:srgbClr val="6750A4"/>
              </a:solidFill>
              <a:effectLst/>
            </c:spPr>
          </c:dPt>
          <c:dPt>
            <c:idx val="6"/>
            <c:invertIfNegative val="0"/>
            <c:bubble3D val="0"/>
            <c:spPr>
              <a:solidFill>
                <a:srgbClr val="6750A4"/>
              </a:solidFill>
              <a:effectLst/>
            </c:spPr>
          </c:dPt>
          <c:dPt>
            <c:idx val="7"/>
            <c:invertIfNegative val="0"/>
            <c:bubble3D val="0"/>
            <c:spPr>
              <a:solidFill>
                <a:srgbClr val="6750A4"/>
              </a:solidFill>
              <a:effectLst/>
            </c:spPr>
          </c:dPt>
          <c:dPt>
            <c:idx val="8"/>
            <c:invertIfNegative val="0"/>
            <c:bubble3D val="0"/>
            <c:spPr>
              <a:solidFill>
                <a:srgbClr val="6750A4"/>
              </a:solidFill>
              <a:effectLst/>
            </c:spPr>
          </c:dPt>
          <c:dPt>
            <c:idx val="9"/>
            <c:invertIfNegative val="0"/>
            <c:bubble3D val="0"/>
            <c:spPr>
              <a:solidFill>
                <a:srgbClr val="6750A4"/>
              </a:solidFill>
              <a:effectLst/>
            </c:spPr>
          </c:dPt>
          <c:dPt>
            <c:idx val="10"/>
            <c:invertIfNegative val="0"/>
            <c:bubble3D val="0"/>
            <c:spPr>
              <a:solidFill>
                <a:srgbClr val="6750A4"/>
              </a:solidFill>
              <a:effectLst/>
            </c:spPr>
          </c:dPt>
          <c:dPt>
            <c:idx val="11"/>
            <c:invertIfNegative val="0"/>
            <c:bubble3D val="0"/>
            <c:spPr>
              <a:solidFill>
                <a:srgbClr val="6750A4"/>
              </a:solidFill>
              <a:effectLst/>
            </c:spPr>
          </c:dPt>
          <c:dPt>
            <c:idx val="12"/>
            <c:invertIfNegative val="0"/>
            <c:bubble3D val="0"/>
            <c:spPr>
              <a:solidFill>
                <a:srgbClr val="6750A4"/>
              </a:solidFill>
              <a:effectLst/>
            </c:spPr>
          </c:dPt>
          <c:dPt>
            <c:idx val="13"/>
            <c:invertIfNegative val="0"/>
            <c:bubble3D val="0"/>
            <c:spPr>
              <a:solidFill>
                <a:srgbClr val="6750A4"/>
              </a:solidFill>
              <a:effectLst/>
            </c:spPr>
          </c:dPt>
          <c:dPt>
            <c:idx val="14"/>
            <c:invertIfNegative val="0"/>
            <c:bubble3D val="0"/>
            <c:spPr>
              <a:solidFill>
                <a:srgbClr val="6750A4"/>
              </a:solidFill>
              <a:effectLst/>
            </c:spPr>
          </c:dPt>
          <c:cat>
            <c:multiLvlStrRef>
              <c:f>Sheet1!$A$2:$A$16</c:f>
              <c:multiLvlStrCache>
                <c:ptCount val="15"/>
                <c:lvl>
                  <c:pt idx="0">
                    <c:v>Fantasy</c:v>
                  </c:pt>
                  <c:pt idx="1">
                    <c:v>Crime</c:v>
                  </c:pt>
                  <c:pt idx="2">
                    <c:v>Romance</c:v>
                  </c:pt>
                  <c:pt idx="3">
                    <c:v>Musical</c:v>
                  </c:pt>
                  <c:pt idx="4">
                    <c:v>War</c:v>
                  </c:pt>
                  <c:pt idx="5">
                    <c:v>Thriller</c:v>
                  </c:pt>
                  <c:pt idx="6">
                    <c:v>Adventure</c:v>
                  </c:pt>
                  <c:pt idx="7">
                    <c:v>Comedy</c:v>
                  </c:pt>
                  <c:pt idx="8">
                    <c:v>Action</c:v>
                  </c:pt>
                  <c:pt idx="9">
                    <c:v>Horror</c:v>
                  </c:pt>
                  <c:pt idx="10">
                    <c:v>Science Fiction</c:v>
                  </c:pt>
                  <c:pt idx="11">
                    <c:v>Drama</c:v>
                  </c:pt>
                  <c:pt idx="12">
                    <c:v>Mystery</c:v>
                  </c:pt>
                  <c:pt idx="13">
                    <c:v>Family</c:v>
                  </c:pt>
                  <c:pt idx="14">
                    <c:v>Western</c:v>
                  </c:pt>
                </c:lvl>
              </c:multiLvlStrCache>
            </c:multiLvlStrRef>
          </c:cat>
          <c:val>
            <c:numRef>
              <c:f>Sheet1!$B$2:$B$16</c:f>
              <c:numCache>
                <c:formatCode>General</c:formatCode>
                <c:ptCount val="15"/>
                <c:pt idx="0">
                  <c:v>-0.0264</c:v>
                </c:pt>
                <c:pt idx="1">
                  <c:v>-0.0056</c:v>
                </c:pt>
                <c:pt idx="2">
                  <c:v>-0.0045</c:v>
                </c:pt>
                <c:pt idx="3">
                  <c:v>-0.0024</c:v>
                </c:pt>
                <c:pt idx="4">
                  <c:v>-0.0015</c:v>
                </c:pt>
                <c:pt idx="5">
                  <c:v>0</c:v>
                </c:pt>
                <c:pt idx="6">
                  <c:v>0.001</c:v>
                </c:pt>
                <c:pt idx="7">
                  <c:v>0.001</c:v>
                </c:pt>
                <c:pt idx="8">
                  <c:v>0.0069</c:v>
                </c:pt>
                <c:pt idx="9">
                  <c:v>0.0131</c:v>
                </c:pt>
                <c:pt idx="10">
                  <c:v>0.0153</c:v>
                </c:pt>
                <c:pt idx="11">
                  <c:v>0.0207</c:v>
                </c:pt>
                <c:pt idx="12">
                  <c:v>0.0268</c:v>
                </c:pt>
                <c:pt idx="13">
                  <c:v>0.0473</c:v>
                </c:pt>
                <c:pt idx="14">
                  <c:v>0.0638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C3C0CC"/>
            </a:solidFill>
            <a:prstDash val="solid"/>
            <a:round/>
          </a:ln>
        </c:spPr>
        <c:txPr>
          <a:bodyPr/>
          <a:lstStyle/>
          <a:p>
            <a:pPr>
              <a:defRPr sz="1200" b="0" i="0" u="none" strike="noStrike">
                <a:solidFill>
                  <a:srgbClr val="4A4752"/>
                </a:solidFill>
                <a:latin typeface="Calibri"/>
              </a:defRPr>
            </a:pPr>
            <a:endParaRPr lang="en-US"/>
          </a:p>
        </c:txPr>
        <c:crossAx val="2094734552"/>
        <c:crosses val="autoZero"/>
        <c:auto val="1"/>
        <c:lblAlgn val="ctr"/>
        <c:noMultiLvlLbl val="1"/>
      </c:catAx>
      <c:valAx>
        <c:axId val="2094734552"/>
        <c:scaling>
          <c:orientation val="minMax"/>
          <c:max val="0.08"/>
          <c:min val="-0.04"/>
        </c:scaling>
        <c:delete val="0"/>
        <c:axPos val="b"/>
        <c:majorGridlines>
          <c:spPr>
            <a:ln w="9525" cap="flat">
              <a:solidFill>
                <a:srgbClr val="E6E3EC"/>
              </a:solidFill>
              <a:prstDash val="solid"/>
              <a:round/>
            </a:ln>
          </c:spPr>
        </c:majorGridlines>
        <c:numFmt formatCode="+0.00;-0.00;0" sourceLinked="0"/>
        <c:majorTickMark val="out"/>
        <c:minorTickMark val="none"/>
        <c:tickLblPos val="low"/>
        <c:spPr>
          <a:ln w="12700" cap="flat">
            <a:noFill/>
            <a:prstDash val="solid"/>
            <a:round/>
          </a:ln>
        </c:spPr>
        <c:txPr>
          <a:bodyPr/>
          <a:lstStyle/>
          <a:p>
            <a:pPr>
              <a:defRPr sz="1100" b="0" i="0" u="none" strike="noStrike">
                <a:solidFill>
                  <a:srgbClr val="6B6876"/>
                </a:solidFill>
                <a:latin typeface="Calibri"/>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Zariff. For my capstone I built a genre predictor: you give it a movie's plot, and it tells you which genres the movie belongs to. It runs completely on the phone. There's no server behind it, and it works in airplane mode. I'll go through the data, the model and the results, including a few things it learned that I didn't expect, and then the part that took the most work, which was getting the phone to give exactly the same answers as the Python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one of the example plots from the app. It's obviously a western, but you could call it an action film too, and the model also says adventure. Lots of films are like that. In this dataset the average film has 2.2 genres. So I treat it as fifteen separate yes-or-no questions, one per genre, and any combination is allowed. Something like this could suggest genres for a film or a story idea that has a synopsis but no tags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wanted it on the phone for practical reasons. It works anywhere, even with no signal. Nothing you type leaves your phone. And I don't have a server to keep running or pay for. The catch is that whatever I train in Python, I have to rewrite myself in Dart, which is the language Flutter apps are written in. That pushed me toward a simple model, where a prediction is mostly multiplying and adding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CMU Movie Summary Corpus: about 42,000 Wikipedia plot summaries, with genre labels from Freebase. Freebase has 363 different genre labels, and a lot of them aren't really about the story, things like black-and-white or Bollywood, which say how or where a film was made rather than what happens in it. So I mapped the labels onto 15 story genres and dropped the films that didn't fit any of them. That left about 38,000 films. And as you can see it's very unbalanced. Half the films are dramas, and fewer than 3% are westerns. That imbalance comes back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I train in Python with scikit-learn. The vocabulary, the IDF values, the weights and the thresholds all go into one JSON file, about three and a half megabytes. The Flutter app bundles that file and does the prediction in plain Dart. The films are split 70/15/15. Training data fits the model, validation data is for every setting I tuned, and the test set was only used once, at the very end, so the score I report wasn't tuned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simple on purpose. Each plot becomes a TF-IDF vector over 20,000 words, so rare, specific words like saloon count for more than common ones. Then there are fifteen logistic regressions, one per genre. I used balanced class weights, because otherwise the model mostly says no to rare genres like westerns. With tuned thresholds the unweighted model catches up, and both get about 0.615 on validation, but balanced weights mean it doesn't depend so much on getting the thresholds right. I picked the regularisation strength on the validation set too. It's best at C equals one, but all six values are within about 0.014, and 0.5 and 2 are only about 0.002 behind it, so anything from 0.5 to 2 would have been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test results, on films the model never saw while I was training or tuning it. F1 balances two things: when the model tags a genre, how often is it right, and of the films that really have that genre, how many does it find. Zero is useless and one is perfect. Micro-F1 pools all the yes/no decisions, so the common genres count most, and it's 0.64. Macro-F1 gives the fifteen genres equal weight, and it's 0.60. If you just tag every film with every genre you get about 0.26 and 0.24. Only 17% of films get exactly the right set of genres, which sounds bad, but all fifteen yes/no answers have to be right for that, and some labels are missing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genre, the grey bars are the F1 you'd get by tagging everything, and purple is the model. Drama has the highest score, but most of it comes for free, because half of all films are dramas. Western is the real success, 0.75 against a baseline of 0.05, because westerns have such a distinctive vocabulary. The hardest are Musical, Mystery and Fantasy. Musical is partly a labelling problem. Freebase tags 69% of Bollywood films as musicals, but only 7% of other Indian films, so the tag isn't used consistently. The model picked up Indian names and places, so almost half of its Musical false positives are Indian films that aren't labelled Bollywood. On the Bollywood films themselves it gets 0.59, about its average across all genres. But even on films that aren't listed as made in India it only gets 0.36, so musicals are hard to spot from a plot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expected per-genre thresholds to help a lot. They helped a bit: macro-F1 went from 0.588 to 0.598, and Western and Family gained the most. For five genres the tuned threshold did slightly worse on the test set than plain 0.5. Fantasy lost 0.026. I think a threshold picked on a few thousand validation films is just a noisy estimate, especially for a small genre. To check the overall gain wasn't luck, I bootstrapped the difference on the same test films. In 95% of the resamples the gain was between 0.005 and 0.016, and it stayed above zero in all 1,000. Next time I'd tune the thresholds with cross-validation, so each one is based on more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model is linear, you can read off which words push each genre up. Most of it makes sense: ranch and saloon for westerns, soldiers for war, vampire for horror. But some of it is just quirks of this dataset. Woody and bugs are two of the top three Family words, and daffy is in the top ten. That's Woody Woodpecker, Bugs Bunny and Daffy Duck. The corpus has a lot of cartoon shorts, and they're tagged Family. The Stooges do the same for comedy, and Mumbai pushes toward Musical because of Bollywood. 'She' is the third strongest Romance word, probably because romance plots on Wikipedia are more often written around a woman. So a love story between two men gets less of that push. Those cartoon and Stooges plots are in both the training and the test set, which I'll come back to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took the most work. This slide is about splitting text into words. If Python and Dart do that even slightly differently, the phone looks up different words from the ones the model learned. Nothing crashes and there's no error, the scores are just wrong. Most of the trouble is Unicode. Python, for example, turns the Kelvin sign into a normal k when it lowercases it. So I made the rule really simple: a word is two or more letters from a to z in a row. Accented words get split up, which mostly affects names, so it shouldn't matter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check that Python and Dart agree in three places. First, both tokenizers have to split 19 awkward inputs the same way. Every time I train, the script reads the exported file back, runs all 5,760 test plots through it and compares the probabilities with scikit-learn's. It's only comparing the two copies of the model, it never looks at the labels. The biggest gap is in the eighth decimal place, and no yes/no decision changes. If it were ever bigger than a millionth, the new file wouldn't replace the one in the app. Then a Dart test runs 48 texts through the real app code and checks every probability against Python. To make sure that test could fail, I broke the Dart code on purpose, and it failed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app. I tested the release build on an Android emulator in airplane mode, and it doesn't ask for internet permission at all. If there's time, I'll show it live. [If the phone won't cooperate, talk through the two screenshots instead.] First, one of the built-in examples: I tap “Try an example”, which fills in a plot and predicts straight away. Each genre that passes its threshold gets a card with the probability, the threshold marked on the bar, and the words that pushed it up. Then the About screen. These are the test scores, read straight from the model file, so they always match the model that's installed. Then I type a one-line plot, “A cowboy rides into town.” It still says Western, but it warns that it only knows four of the words, so the result is shaky. Last, I press predict on an empty box, which brings me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bugs I want to mention. The best one came from a code review: if you pressed predict on an empty box, the app said Drama. With no words, each genre falls back to its intercept, and for Drama that works out at 0.391, just over its 0.39 threshold. I fixed it in the app, not the model, so Python and Dart still match. The second was an accessibility error that one of the widget tests caught. And rounding numbers twice had shifted a reported score by 0.001, so now everything is rounded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problems I know about. The biggest is that I split the data randomly by film, so cartoon series and Stooges shorts end up in both training and test, and the model gets credit for recognising character names. That makes Family and Comedy look a bit better than they really are. The labels are also incomplete: The Double is a CIA thriller that isn't tagged Thriller, so when the model says Thriller it counts as a mistake. And it reads words, not their order, so “the police chase the gang” and “the gang chase the police” look exactly the same to it. If I had another week, the first thing I'd do is split by series, so the test score tells you how it does on series it's never seen. The other ideas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It reaches a macro-F1 of 0.60 on films it never saw, against 0.24 for tagging everything. It runs entirely on the phone, and the app matches the Python model to within a millionth. And the explanations showed me what it really learned, cartoon names included. Thanks for listening. I'm happy to take questions, or to try the app on any plot you want to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lstStyle>
            <a:lvl1pPr algn="l" indent="0" marL="0">
              <a:buNone/>
              <a:defRPr lang="en-US" sz="3000" dirty="0">
                <a:solidFill>
                  <a:srgbClr val="1F1A2B"/>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C162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83080"/>
            <a:ext cx="6949440" cy="1737360"/>
          </a:xfrm>
          <a:prstGeom prst="rect">
            <a:avLst/>
          </a:prstGeom>
          <a:noFill/>
          <a:ln/>
        </p:spPr>
        <p:txBody>
          <a:bodyPr wrap="square" rtlCol="0"/>
          <a:lstStyle>
            <a:lvl1pPr algn="l" indent="0" marL="0">
              <a:buNone/>
              <a:defRPr lang="en-US" sz="5000" dirty="0">
                <a:solidFill>
                  <a:srgbClr val="FFFFFF"/>
                </a:solidFill>
                <a:latin typeface="Georgia" pitchFamily="34" charset="0"/>
                <a:ea typeface="Georgia" pitchFamily="34" charset="-122"/>
                <a:cs typeface="Georgia" pitchFamily="34" charset="-120"/>
              </a:defRPr>
            </a:lvl1pPr>
          </a:lstStyle>
          <a:p>
            <a:pPr algn="l" indent="0" marL="0">
              <a:buNone/>
            </a:pPr>
            <a:endParaRPr lang="en-US" sz="5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83080"/>
            <a:ext cx="6949440" cy="1737360"/>
          </a:xfrm>
          <a:prstGeom prst="rect">
            <a:avLst/>
          </a:prstGeom>
          <a:noFill/>
          <a:ln/>
        </p:spPr>
        <p:txBody>
          <a:bodyPr wrap="square" lIns="0" tIns="0" rIns="0" bIns="0" rtlCol="0" anchor="t"/>
          <a:lstStyle/>
          <a:p>
            <a:pPr algn="l" indent="0" marL="0">
              <a:buNone/>
            </a:pPr>
            <a:r>
              <a:rPr lang="en-US" sz="5000" dirty="0">
                <a:solidFill>
                  <a:srgbClr val="FFFFFF"/>
                </a:solidFill>
                <a:latin typeface="Georgia" pitchFamily="34" charset="0"/>
                <a:ea typeface="Georgia" pitchFamily="34" charset="-122"/>
                <a:cs typeface="Georgia" pitchFamily="34" charset="-120"/>
              </a:rPr>
              <a:t>What genre is</a:t>
            </a:r>
            <a:endParaRPr lang="en-US" sz="5000" dirty="0"/>
          </a:p>
          <a:p>
            <a:pPr algn="l" indent="0" marL="0">
              <a:buNone/>
            </a:pPr>
            <a:r>
              <a:rPr lang="en-US" sz="5000" dirty="0">
                <a:solidFill>
                  <a:srgbClr val="FFFFFF"/>
                </a:solidFill>
                <a:latin typeface="Georgia" pitchFamily="34" charset="0"/>
                <a:ea typeface="Georgia" pitchFamily="34" charset="-122"/>
                <a:cs typeface="Georgia" pitchFamily="34" charset="-120"/>
              </a:rPr>
              <a:t>this movie?</a:t>
            </a:r>
            <a:endParaRPr lang="en-US" sz="5000" dirty="0"/>
          </a:p>
        </p:txBody>
      </p:sp>
      <p:sp>
        <p:nvSpPr>
          <p:cNvPr id="3" name="Text 1"/>
          <p:cNvSpPr txBox="1"/>
          <p:nvPr/>
        </p:nvSpPr>
        <p:spPr>
          <a:xfrm>
            <a:off x="731520" y="1325880"/>
            <a:ext cx="5486400" cy="365760"/>
          </a:xfrm>
          <a:prstGeom prst="rect">
            <a:avLst/>
          </a:prstGeom>
          <a:noFill/>
          <a:ln/>
        </p:spPr>
        <p:txBody>
          <a:bodyPr wrap="square" lIns="0" tIns="0" rIns="0" bIns="0" rtlCol="0" anchor="ctr"/>
          <a:lstStyle/>
          <a:p>
            <a:pPr indent="0" marL="0">
              <a:buNone/>
            </a:pPr>
            <a:r>
              <a:rPr lang="en-US" sz="1500" b="1" spc="100" kern="0" dirty="0">
                <a:solidFill>
                  <a:srgbClr val="B9AAE6"/>
                </a:solidFill>
                <a:latin typeface="Calibri" pitchFamily="34" charset="0"/>
                <a:ea typeface="Calibri" pitchFamily="34" charset="-122"/>
                <a:cs typeface="Calibri" pitchFamily="34" charset="-120"/>
              </a:rPr>
              <a:t>Capstone project</a:t>
            </a:r>
            <a:endParaRPr lang="en-US" sz="1500" dirty="0"/>
          </a:p>
        </p:txBody>
      </p:sp>
      <p:sp>
        <p:nvSpPr>
          <p:cNvPr id="4" name="Text 2"/>
          <p:cNvSpPr txBox="1"/>
          <p:nvPr/>
        </p:nvSpPr>
        <p:spPr>
          <a:xfrm>
            <a:off x="731520" y="3657600"/>
            <a:ext cx="6583680" cy="822960"/>
          </a:xfrm>
          <a:prstGeom prst="rect">
            <a:avLst/>
          </a:prstGeom>
          <a:noFill/>
          <a:ln/>
        </p:spPr>
        <p:txBody>
          <a:bodyPr wrap="square" lIns="0" tIns="0" rIns="0" bIns="0" rtlCol="0" anchor="t"/>
          <a:lstStyle/>
          <a:p>
            <a:pPr indent="0" marL="0">
              <a:buNone/>
            </a:pPr>
            <a:r>
              <a:rPr lang="en-US" sz="2100" dirty="0">
                <a:solidFill>
                  <a:srgbClr val="CFC6E6"/>
                </a:solidFill>
                <a:latin typeface="Calibri" pitchFamily="34" charset="0"/>
                <a:ea typeface="Calibri" pitchFamily="34" charset="-122"/>
                <a:cs typeface="Calibri" pitchFamily="34" charset="-120"/>
              </a:rPr>
              <a:t>Predicting genres from a plot summary, offline, on a phone</a:t>
            </a:r>
            <a:endParaRPr lang="en-US" sz="2100" dirty="0"/>
          </a:p>
        </p:txBody>
      </p:sp>
      <p:sp>
        <p:nvSpPr>
          <p:cNvPr id="5" name="Text 3"/>
          <p:cNvSpPr txBox="1"/>
          <p:nvPr/>
        </p:nvSpPr>
        <p:spPr>
          <a:xfrm>
            <a:off x="731520" y="5760720"/>
            <a:ext cx="5486400" cy="365760"/>
          </a:xfrm>
          <a:prstGeom prst="rect">
            <a:avLst/>
          </a:prstGeom>
          <a:noFill/>
          <a:ln/>
        </p:spPr>
        <p:txBody>
          <a:bodyPr wrap="square" lIns="0" tIns="0" rIns="0" bIns="0" rtlCol="0" anchor="ctr"/>
          <a:lstStyle/>
          <a:p>
            <a:pPr indent="0" marL="0">
              <a:buNone/>
            </a:pPr>
            <a:r>
              <a:rPr lang="en-US" sz="1500" dirty="0">
                <a:solidFill>
                  <a:srgbClr val="A79FBF"/>
                </a:solidFill>
                <a:latin typeface="Calibri" pitchFamily="34" charset="0"/>
                <a:ea typeface="Calibri" pitchFamily="34" charset="-122"/>
                <a:cs typeface="Calibri" pitchFamily="34" charset="-120"/>
              </a:rPr>
              <a:t>Zariff  ·  October 2026</a:t>
            </a:r>
            <a:endParaRPr lang="en-US" sz="1500" dirty="0"/>
          </a:p>
        </p:txBody>
      </p:sp>
      <p:sp>
        <p:nvSpPr>
          <p:cNvPr id="6" name="Shape 4"/>
          <p:cNvSpPr/>
          <p:nvPr/>
        </p:nvSpPr>
        <p:spPr>
          <a:xfrm>
            <a:off x="8412480" y="530352"/>
            <a:ext cx="2916574" cy="5797296"/>
          </a:xfrm>
          <a:prstGeom prst="roundRect">
            <a:avLst>
              <a:gd name="adj" fmla="val 8151"/>
            </a:avLst>
          </a:prstGeom>
          <a:solidFill>
            <a:srgbClr val="2D2540"/>
          </a:solidFill>
          <a:ln w="12700">
            <a:solidFill>
              <a:srgbClr val="3A3150"/>
            </a:solidFill>
            <a:prstDash val="solid"/>
          </a:ln>
        </p:spPr>
      </p:sp>
      <p:pic>
        <p:nvPicPr>
          <p:cNvPr id="7" name="Image 0" descr="The app showing Western at 100% and Action at 86% for a sample plot">    </p:cNvPr>
          <p:cNvPicPr>
            <a:picLocks noChangeAspect="1"/>
          </p:cNvPicPr>
          <p:nvPr/>
        </p:nvPicPr>
        <p:blipFill>
          <a:blip r:embed="rId1"/>
          <a:stretch>
            <a:fillRect/>
          </a:stretch>
        </p:blipFill>
        <p:spPr>
          <a:xfrm>
            <a:off x="8567928" y="685800"/>
            <a:ext cx="2605678"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One plot, several genres</a:t>
            </a:r>
            <a:endParaRPr lang="en-US" sz="3000" dirty="0"/>
          </a:p>
        </p:txBody>
      </p:sp>
      <p:sp>
        <p:nvSpPr>
          <p:cNvPr id="3" name="Shape 1"/>
          <p:cNvSpPr/>
          <p:nvPr/>
        </p:nvSpPr>
        <p:spPr>
          <a:xfrm>
            <a:off x="548640" y="1417320"/>
            <a:ext cx="5760720" cy="3611880"/>
          </a:xfrm>
          <a:prstGeom prst="roundRect">
            <a:avLst>
              <a:gd name="adj" fmla="val 4051"/>
            </a:avLst>
          </a:prstGeom>
          <a:solidFill>
            <a:srgbClr val="F1ECF8"/>
          </a:solidFill>
          <a:ln w="12700">
            <a:solidFill>
              <a:srgbClr val="F1ECF8"/>
            </a:solidFill>
            <a:prstDash val="solid"/>
          </a:ln>
        </p:spPr>
      </p:sp>
      <p:sp>
        <p:nvSpPr>
          <p:cNvPr id="4" name="Text 2"/>
          <p:cNvSpPr txBox="1"/>
          <p:nvPr/>
        </p:nvSpPr>
        <p:spPr>
          <a:xfrm>
            <a:off x="868680" y="1691640"/>
            <a:ext cx="5120640" cy="320040"/>
          </a:xfrm>
          <a:prstGeom prst="rect">
            <a:avLst/>
          </a:prstGeom>
          <a:noFill/>
          <a:ln/>
        </p:spPr>
        <p:txBody>
          <a:bodyPr wrap="square" lIns="0" tIns="0" rIns="0" bIns="0" rtlCol="0" anchor="t"/>
          <a:lstStyle/>
          <a:p>
            <a:pPr indent="0" marL="0">
              <a:buNone/>
            </a:pPr>
            <a:r>
              <a:rPr lang="en-US" sz="1300" b="1" dirty="0">
                <a:solidFill>
                  <a:srgbClr val="68548E"/>
                </a:solidFill>
                <a:latin typeface="Calibri" pitchFamily="34" charset="0"/>
                <a:ea typeface="Calibri" pitchFamily="34" charset="-122"/>
                <a:cs typeface="Calibri" pitchFamily="34" charset="-120"/>
              </a:rPr>
              <a:t>An example plot from the app</a:t>
            </a:r>
            <a:endParaRPr lang="en-US" sz="1300" dirty="0"/>
          </a:p>
        </p:txBody>
      </p:sp>
      <p:sp>
        <p:nvSpPr>
          <p:cNvPr id="5" name="Text 3"/>
          <p:cNvSpPr txBox="1"/>
          <p:nvPr/>
        </p:nvSpPr>
        <p:spPr>
          <a:xfrm>
            <a:off x="868680" y="2103120"/>
            <a:ext cx="5120640" cy="2743200"/>
          </a:xfrm>
          <a:prstGeom prst="rect">
            <a:avLst/>
          </a:prstGeom>
          <a:noFill/>
          <a:ln/>
        </p:spPr>
        <p:txBody>
          <a:bodyPr wrap="square" lIns="0" tIns="0" rIns="0" bIns="0" rtlCol="0" anchor="t"/>
          <a:lstStyle/>
          <a:p>
            <a:pPr indent="0" marL="0">
              <a:lnSpc>
                <a:spcPct val="110000"/>
              </a:lnSpc>
              <a:buNone/>
            </a:pPr>
            <a:r>
              <a:rPr lang="en-US" sz="2100" i="1" dirty="0">
                <a:solidFill>
                  <a:srgbClr val="1F1A2B"/>
                </a:solidFill>
                <a:latin typeface="Calibri" pitchFamily="34" charset="0"/>
                <a:ea typeface="Calibri" pitchFamily="34" charset="-122"/>
                <a:cs typeface="Calibri" pitchFamily="34" charset="-120"/>
              </a:rPr>
              <a:t>“A weary gunslinger rides into a dusty frontier town where a ruthless cattle baron and his gang of outlaws terrorize the ranchers. With the sheriff dead, the stranger straps on his revolver and prepares for a showdown in the main street at noon.”</a:t>
            </a:r>
            <a:endParaRPr lang="en-US" sz="2100" dirty="0"/>
          </a:p>
        </p:txBody>
      </p:sp>
      <p:sp>
        <p:nvSpPr>
          <p:cNvPr id="6" name="Text 4"/>
          <p:cNvSpPr txBox="1"/>
          <p:nvPr/>
        </p:nvSpPr>
        <p:spPr>
          <a:xfrm>
            <a:off x="6812280" y="1691640"/>
            <a:ext cx="4572000" cy="320040"/>
          </a:xfrm>
          <a:prstGeom prst="rect">
            <a:avLst/>
          </a:prstGeom>
          <a:noFill/>
          <a:ln/>
        </p:spPr>
        <p:txBody>
          <a:bodyPr wrap="square" lIns="0" tIns="0" rIns="0" bIns="0" rtlCol="0" anchor="t"/>
          <a:lstStyle/>
          <a:p>
            <a:pPr indent="0" marL="0">
              <a:buNone/>
            </a:pPr>
            <a:r>
              <a:rPr lang="en-US" sz="1300" b="1" dirty="0">
                <a:solidFill>
                  <a:srgbClr val="68548E"/>
                </a:solidFill>
                <a:latin typeface="Calibri" pitchFamily="34" charset="0"/>
                <a:ea typeface="Calibri" pitchFamily="34" charset="-122"/>
                <a:cs typeface="Calibri" pitchFamily="34" charset="-120"/>
              </a:rPr>
              <a:t>What the model says</a:t>
            </a:r>
            <a:endParaRPr lang="en-US" sz="1300" dirty="0"/>
          </a:p>
        </p:txBody>
      </p:sp>
      <p:sp>
        <p:nvSpPr>
          <p:cNvPr id="7" name="Text 5"/>
          <p:cNvSpPr txBox="1"/>
          <p:nvPr/>
        </p:nvSpPr>
        <p:spPr>
          <a:xfrm>
            <a:off x="6812280" y="2148840"/>
            <a:ext cx="2103120" cy="512064"/>
          </a:xfrm>
          <a:prstGeom prst="roundRect">
            <a:avLst>
              <a:gd name="adj" fmla="val 50000"/>
            </a:avLst>
          </a:prstGeom>
          <a:solidFill>
            <a:srgbClr val="6750A4"/>
          </a:solidFill>
          <a:ln>
            <a:solidFill>
              <a:srgbClr val="6750A4"/>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Western  100%</a:t>
            </a:r>
            <a:endParaRPr lang="en-US" sz="1700" dirty="0"/>
          </a:p>
        </p:txBody>
      </p:sp>
      <p:sp>
        <p:nvSpPr>
          <p:cNvPr id="8" name="Text 6"/>
          <p:cNvSpPr txBox="1"/>
          <p:nvPr/>
        </p:nvSpPr>
        <p:spPr>
          <a:xfrm>
            <a:off x="9043416" y="2148840"/>
            <a:ext cx="1828800" cy="512064"/>
          </a:xfrm>
          <a:prstGeom prst="roundRect">
            <a:avLst>
              <a:gd name="adj" fmla="val 50000"/>
            </a:avLst>
          </a:prstGeom>
          <a:solidFill>
            <a:srgbClr val="6750A4"/>
          </a:solidFill>
          <a:ln>
            <a:solidFill>
              <a:srgbClr val="6750A4"/>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Action  86%</a:t>
            </a:r>
            <a:endParaRPr lang="en-US" sz="1700" dirty="0"/>
          </a:p>
        </p:txBody>
      </p:sp>
      <p:sp>
        <p:nvSpPr>
          <p:cNvPr id="9" name="Text 7"/>
          <p:cNvSpPr txBox="1"/>
          <p:nvPr/>
        </p:nvSpPr>
        <p:spPr>
          <a:xfrm>
            <a:off x="6812280" y="2788920"/>
            <a:ext cx="2240280" cy="512064"/>
          </a:xfrm>
          <a:prstGeom prst="roundRect">
            <a:avLst>
              <a:gd name="adj" fmla="val 50000"/>
            </a:avLst>
          </a:prstGeom>
          <a:solidFill>
            <a:srgbClr val="6750A4"/>
          </a:solidFill>
          <a:ln>
            <a:solidFill>
              <a:srgbClr val="6750A4"/>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Adventure  82%</a:t>
            </a:r>
            <a:endParaRPr lang="en-US" sz="1700" dirty="0"/>
          </a:p>
        </p:txBody>
      </p:sp>
      <p:sp>
        <p:nvSpPr>
          <p:cNvPr id="10" name="Text 8"/>
          <p:cNvSpPr txBox="1"/>
          <p:nvPr/>
        </p:nvSpPr>
        <p:spPr>
          <a:xfrm>
            <a:off x="6812280" y="3657600"/>
            <a:ext cx="4800600" cy="1463040"/>
          </a:xfrm>
          <a:prstGeom prst="rect">
            <a:avLst/>
          </a:prstGeom>
          <a:noFill/>
          <a:ln/>
        </p:spPr>
        <p:txBody>
          <a:bodyPr wrap="square" lIns="0" tIns="0" rIns="0" bIns="0" rtlCol="0" anchor="t"/>
          <a:lstStyle/>
          <a:p>
            <a:pPr indent="0" marL="0">
              <a:buNone/>
            </a:pPr>
            <a:r>
              <a:rPr lang="en-US" sz="1700" b="1" dirty="0">
                <a:solidFill>
                  <a:srgbClr val="1F1A2B"/>
                </a:solidFill>
                <a:latin typeface="Calibri" pitchFamily="34" charset="0"/>
                <a:ea typeface="Calibri" pitchFamily="34" charset="-122"/>
                <a:cs typeface="Calibri" pitchFamily="34" charset="-120"/>
              </a:rPr>
              <a:t>15 genres, any combination</a:t>
            </a:r>
            <a:endParaRPr lang="en-US" sz="1700" dirty="0"/>
          </a:p>
          <a:p>
            <a:pPr indent="0" marL="0">
              <a:buNone/>
            </a:pPr>
            <a:r>
              <a:rPr lang="en-US" sz="1700" dirty="0">
                <a:solidFill>
                  <a:srgbClr val="3A3646"/>
                </a:solidFill>
                <a:latin typeface="Calibri" pitchFamily="34" charset="0"/>
                <a:ea typeface="Calibri" pitchFamily="34" charset="-122"/>
                <a:cs typeface="Calibri" pitchFamily="34" charset="-120"/>
              </a:rPr>
              <a:t>Each genre is its own yes/no question.</a:t>
            </a:r>
            <a:endParaRPr lang="en-US" sz="1700" dirty="0"/>
          </a:p>
          <a:p>
            <a:pPr indent="0" marL="0">
              <a:buNone/>
            </a:pPr>
            <a:r>
              <a:rPr lang="en-US" sz="800" dirty="0">
                <a:solidFill>
                  <a:srgbClr val="3A3646"/>
                </a:solidFill>
                <a:latin typeface="Calibri" pitchFamily="34" charset="0"/>
                <a:ea typeface="Calibri" pitchFamily="34" charset="-122"/>
                <a:cs typeface="Calibri" pitchFamily="34" charset="-120"/>
              </a:rPr>
              <a:t> </a:t>
            </a:r>
            <a:endParaRPr lang="en-US" sz="1700" dirty="0"/>
          </a:p>
          <a:p>
            <a:pPr indent="0" marL="0">
              <a:buNone/>
            </a:pPr>
            <a:r>
              <a:rPr lang="en-US" sz="1700" b="1" dirty="0">
                <a:solidFill>
                  <a:srgbClr val="1F1A2B"/>
                </a:solidFill>
                <a:latin typeface="Calibri" pitchFamily="34" charset="0"/>
                <a:ea typeface="Calibri" pitchFamily="34" charset="-122"/>
                <a:cs typeface="Calibri" pitchFamily="34" charset="-120"/>
              </a:rPr>
              <a:t>2.2 genres per film</a:t>
            </a:r>
            <a:endParaRPr lang="en-US" sz="1700" dirty="0"/>
          </a:p>
          <a:p>
            <a:pPr indent="0" marL="0">
              <a:buNone/>
            </a:pPr>
            <a:r>
              <a:rPr lang="en-US" sz="1700" dirty="0">
                <a:solidFill>
                  <a:srgbClr val="3A3646"/>
                </a:solidFill>
                <a:latin typeface="Calibri" pitchFamily="34" charset="0"/>
                <a:ea typeface="Calibri" pitchFamily="34" charset="-122"/>
                <a:cs typeface="Calibri" pitchFamily="34" charset="-120"/>
              </a:rPr>
              <a:t>That’s the average across all 38,397 films.</a:t>
            </a:r>
            <a:endParaRPr lang="en-US" sz="17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Why run it on the phone?</a:t>
            </a:r>
            <a:endParaRPr lang="en-US" sz="3000" dirty="0"/>
          </a:p>
        </p:txBody>
      </p:sp>
      <p:sp>
        <p:nvSpPr>
          <p:cNvPr id="3" name="Text 1"/>
          <p:cNvSpPr txBox="1"/>
          <p:nvPr/>
        </p:nvSpPr>
        <p:spPr>
          <a:xfrm>
            <a:off x="548640" y="1554480"/>
            <a:ext cx="6217920" cy="384048"/>
          </a:xfrm>
          <a:prstGeom prst="rect">
            <a:avLst/>
          </a:prstGeom>
          <a:noFill/>
          <a:ln/>
        </p:spPr>
        <p:txBody>
          <a:bodyPr wrap="square" lIns="0" tIns="0" rIns="0" bIns="0" rtlCol="0" anchor="t"/>
          <a:lstStyle/>
          <a:p>
            <a:pPr indent="0" marL="0">
              <a:buNone/>
            </a:pPr>
            <a:r>
              <a:rPr lang="en-US" sz="2100" b="1" dirty="0">
                <a:solidFill>
                  <a:srgbClr val="1F1A2B"/>
                </a:solidFill>
                <a:latin typeface="Calibri" pitchFamily="34" charset="0"/>
                <a:ea typeface="Calibri" pitchFamily="34" charset="-122"/>
                <a:cs typeface="Calibri" pitchFamily="34" charset="-120"/>
              </a:rPr>
              <a:t>Works offline</a:t>
            </a:r>
            <a:endParaRPr lang="en-US" sz="2100" dirty="0"/>
          </a:p>
        </p:txBody>
      </p:sp>
      <p:sp>
        <p:nvSpPr>
          <p:cNvPr id="4" name="Text 2"/>
          <p:cNvSpPr txBox="1"/>
          <p:nvPr/>
        </p:nvSpPr>
        <p:spPr>
          <a:xfrm>
            <a:off x="548640" y="1975104"/>
            <a:ext cx="6217920" cy="365760"/>
          </a:xfrm>
          <a:prstGeom prst="rect">
            <a:avLst/>
          </a:prstGeom>
          <a:noFill/>
          <a:ln/>
        </p:spPr>
        <p:txBody>
          <a:bodyPr wrap="square" lIns="0" tIns="0" rIns="0" bIns="0" rtlCol="0" anchor="t"/>
          <a:lstStyle/>
          <a:p>
            <a:pPr indent="0" marL="0">
              <a:buNone/>
            </a:pPr>
            <a:r>
              <a:rPr lang="en-US" sz="1600" dirty="0">
                <a:solidFill>
                  <a:srgbClr val="3A3646"/>
                </a:solidFill>
                <a:latin typeface="Calibri" pitchFamily="34" charset="0"/>
                <a:ea typeface="Calibri" pitchFamily="34" charset="-122"/>
                <a:cs typeface="Calibri" pitchFamily="34" charset="-120"/>
              </a:rPr>
              <a:t>No connection needed. It runs in airplane mode.</a:t>
            </a:r>
            <a:endParaRPr lang="en-US" sz="1600" dirty="0"/>
          </a:p>
        </p:txBody>
      </p:sp>
      <p:sp>
        <p:nvSpPr>
          <p:cNvPr id="5" name="Text 3"/>
          <p:cNvSpPr txBox="1"/>
          <p:nvPr/>
        </p:nvSpPr>
        <p:spPr>
          <a:xfrm>
            <a:off x="548640" y="2651760"/>
            <a:ext cx="6217920" cy="384048"/>
          </a:xfrm>
          <a:prstGeom prst="rect">
            <a:avLst/>
          </a:prstGeom>
          <a:noFill/>
          <a:ln/>
        </p:spPr>
        <p:txBody>
          <a:bodyPr wrap="square" lIns="0" tIns="0" rIns="0" bIns="0" rtlCol="0" anchor="t"/>
          <a:lstStyle/>
          <a:p>
            <a:pPr indent="0" marL="0">
              <a:buNone/>
            </a:pPr>
            <a:r>
              <a:rPr lang="en-US" sz="2100" b="1" dirty="0">
                <a:solidFill>
                  <a:srgbClr val="1F1A2B"/>
                </a:solidFill>
                <a:latin typeface="Calibri" pitchFamily="34" charset="0"/>
                <a:ea typeface="Calibri" pitchFamily="34" charset="-122"/>
                <a:cs typeface="Calibri" pitchFamily="34" charset="-120"/>
              </a:rPr>
              <a:t>Private</a:t>
            </a:r>
            <a:endParaRPr lang="en-US" sz="2100" dirty="0"/>
          </a:p>
        </p:txBody>
      </p:sp>
      <p:sp>
        <p:nvSpPr>
          <p:cNvPr id="6" name="Text 4"/>
          <p:cNvSpPr txBox="1"/>
          <p:nvPr/>
        </p:nvSpPr>
        <p:spPr>
          <a:xfrm>
            <a:off x="548640" y="3072384"/>
            <a:ext cx="6217920" cy="365760"/>
          </a:xfrm>
          <a:prstGeom prst="rect">
            <a:avLst/>
          </a:prstGeom>
          <a:noFill/>
          <a:ln/>
        </p:spPr>
        <p:txBody>
          <a:bodyPr wrap="square" lIns="0" tIns="0" rIns="0" bIns="0" rtlCol="0" anchor="t"/>
          <a:lstStyle/>
          <a:p>
            <a:pPr indent="0" marL="0">
              <a:buNone/>
            </a:pPr>
            <a:r>
              <a:rPr lang="en-US" sz="1600" dirty="0">
                <a:solidFill>
                  <a:srgbClr val="3A3646"/>
                </a:solidFill>
                <a:latin typeface="Calibri" pitchFamily="34" charset="0"/>
                <a:ea typeface="Calibri" pitchFamily="34" charset="-122"/>
                <a:cs typeface="Calibri" pitchFamily="34" charset="-120"/>
              </a:rPr>
              <a:t>Whatever you type stays on your phone.</a:t>
            </a:r>
            <a:endParaRPr lang="en-US" sz="1600" dirty="0"/>
          </a:p>
        </p:txBody>
      </p:sp>
      <p:sp>
        <p:nvSpPr>
          <p:cNvPr id="7" name="Text 5"/>
          <p:cNvSpPr txBox="1"/>
          <p:nvPr/>
        </p:nvSpPr>
        <p:spPr>
          <a:xfrm>
            <a:off x="548640" y="3749040"/>
            <a:ext cx="6217920" cy="384048"/>
          </a:xfrm>
          <a:prstGeom prst="rect">
            <a:avLst/>
          </a:prstGeom>
          <a:noFill/>
          <a:ln/>
        </p:spPr>
        <p:txBody>
          <a:bodyPr wrap="square" lIns="0" tIns="0" rIns="0" bIns="0" rtlCol="0" anchor="t"/>
          <a:lstStyle/>
          <a:p>
            <a:pPr indent="0" marL="0">
              <a:buNone/>
            </a:pPr>
            <a:r>
              <a:rPr lang="en-US" sz="2100" b="1" dirty="0">
                <a:solidFill>
                  <a:srgbClr val="1F1A2B"/>
                </a:solidFill>
                <a:latin typeface="Calibri" pitchFamily="34" charset="0"/>
                <a:ea typeface="Calibri" pitchFamily="34" charset="-122"/>
                <a:cs typeface="Calibri" pitchFamily="34" charset="-120"/>
              </a:rPr>
              <a:t>Free to run</a:t>
            </a:r>
            <a:endParaRPr lang="en-US" sz="2100" dirty="0"/>
          </a:p>
        </p:txBody>
      </p:sp>
      <p:sp>
        <p:nvSpPr>
          <p:cNvPr id="8" name="Text 6"/>
          <p:cNvSpPr txBox="1"/>
          <p:nvPr/>
        </p:nvSpPr>
        <p:spPr>
          <a:xfrm>
            <a:off x="548640" y="4169664"/>
            <a:ext cx="6217920" cy="365760"/>
          </a:xfrm>
          <a:prstGeom prst="rect">
            <a:avLst/>
          </a:prstGeom>
          <a:noFill/>
          <a:ln/>
        </p:spPr>
        <p:txBody>
          <a:bodyPr wrap="square" lIns="0" tIns="0" rIns="0" bIns="0" rtlCol="0" anchor="t"/>
          <a:lstStyle/>
          <a:p>
            <a:pPr indent="0" marL="0">
              <a:buNone/>
            </a:pPr>
            <a:r>
              <a:rPr lang="en-US" sz="1600" dirty="0">
                <a:solidFill>
                  <a:srgbClr val="3A3646"/>
                </a:solidFill>
                <a:latin typeface="Calibri" pitchFamily="34" charset="0"/>
                <a:ea typeface="Calibri" pitchFamily="34" charset="-122"/>
                <a:cs typeface="Calibri" pitchFamily="34" charset="-120"/>
              </a:rPr>
              <a:t>No server to host or pay for.</a:t>
            </a:r>
            <a:endParaRPr lang="en-US" sz="1600" dirty="0"/>
          </a:p>
        </p:txBody>
      </p:sp>
      <p:sp>
        <p:nvSpPr>
          <p:cNvPr id="9" name="Shape 7"/>
          <p:cNvSpPr/>
          <p:nvPr/>
        </p:nvSpPr>
        <p:spPr>
          <a:xfrm>
            <a:off x="7406640" y="1463040"/>
            <a:ext cx="4206240" cy="3017520"/>
          </a:xfrm>
          <a:prstGeom prst="roundRect">
            <a:avLst>
              <a:gd name="adj" fmla="val 4848"/>
            </a:avLst>
          </a:prstGeom>
          <a:solidFill>
            <a:srgbClr val="F1ECF8"/>
          </a:solidFill>
          <a:ln w="12700">
            <a:solidFill>
              <a:srgbClr val="F1ECF8"/>
            </a:solidFill>
            <a:prstDash val="solid"/>
          </a:ln>
        </p:spPr>
      </p:sp>
      <p:sp>
        <p:nvSpPr>
          <p:cNvPr id="10" name="Text 8"/>
          <p:cNvSpPr txBox="1"/>
          <p:nvPr/>
        </p:nvSpPr>
        <p:spPr>
          <a:xfrm>
            <a:off x="7726680" y="1737360"/>
            <a:ext cx="3566160" cy="365760"/>
          </a:xfrm>
          <a:prstGeom prst="rect">
            <a:avLst/>
          </a:prstGeom>
          <a:noFill/>
          <a:ln/>
        </p:spPr>
        <p:txBody>
          <a:bodyPr wrap="square" lIns="0" tIns="0" rIns="0" bIns="0" rtlCol="0" anchor="t"/>
          <a:lstStyle/>
          <a:p>
            <a:pPr indent="0" marL="0">
              <a:buNone/>
            </a:pPr>
            <a:r>
              <a:rPr lang="en-US" sz="1300" b="1" dirty="0">
                <a:solidFill>
                  <a:srgbClr val="68548E"/>
                </a:solidFill>
                <a:latin typeface="Calibri" pitchFamily="34" charset="0"/>
                <a:ea typeface="Calibri" pitchFamily="34" charset="-122"/>
                <a:cs typeface="Calibri" pitchFamily="34" charset="-120"/>
              </a:rPr>
              <a:t>The catch</a:t>
            </a:r>
            <a:endParaRPr lang="en-US" sz="1300" dirty="0"/>
          </a:p>
        </p:txBody>
      </p:sp>
      <p:sp>
        <p:nvSpPr>
          <p:cNvPr id="11" name="Text 9"/>
          <p:cNvSpPr txBox="1"/>
          <p:nvPr/>
        </p:nvSpPr>
        <p:spPr>
          <a:xfrm>
            <a:off x="7726680" y="2148840"/>
            <a:ext cx="3611880" cy="2194560"/>
          </a:xfrm>
          <a:prstGeom prst="rect">
            <a:avLst/>
          </a:prstGeom>
          <a:noFill/>
          <a:ln/>
        </p:spPr>
        <p:txBody>
          <a:bodyPr wrap="square" lIns="0" tIns="0" rIns="0" bIns="0" rtlCol="0" anchor="t"/>
          <a:lstStyle/>
          <a:p>
            <a:pPr indent="0" marL="0">
              <a:lnSpc>
                <a:spcPct val="108000"/>
              </a:lnSpc>
              <a:buNone/>
            </a:pPr>
            <a:r>
              <a:rPr lang="en-US" sz="1700" dirty="0">
                <a:solidFill>
                  <a:srgbClr val="1F1A2B"/>
                </a:solidFill>
                <a:latin typeface="Calibri" pitchFamily="34" charset="0"/>
                <a:ea typeface="Calibri" pitchFamily="34" charset="-122"/>
                <a:cs typeface="Calibri" pitchFamily="34" charset="-120"/>
              </a:rPr>
              <a:t>Whatever I train in Python, I have to rebuild by hand in Dart, the language Flutter apps are written in. That rules out big models. I needed one where a prediction is mostly multiplying and adding.</a:t>
            </a:r>
            <a:endParaRPr lang="en-US" sz="17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The data</a:t>
            </a:r>
            <a:endParaRPr lang="en-US" sz="3000" dirty="0"/>
          </a:p>
        </p:txBody>
      </p:sp>
      <p:sp>
        <p:nvSpPr>
          <p:cNvPr id="3" name="Text 1"/>
          <p:cNvSpPr txBox="1"/>
          <p:nvPr/>
        </p:nvSpPr>
        <p:spPr>
          <a:xfrm>
            <a:off x="548640" y="1417320"/>
            <a:ext cx="4206240" cy="685800"/>
          </a:xfrm>
          <a:prstGeom prst="rect">
            <a:avLst/>
          </a:prstGeom>
          <a:noFill/>
          <a:ln/>
        </p:spPr>
        <p:txBody>
          <a:bodyPr wrap="square" lIns="0" tIns="0" rIns="0" bIns="0" rtlCol="0" anchor="t"/>
          <a:lstStyle/>
          <a:p>
            <a:pPr indent="0" marL="0">
              <a:buNone/>
            </a:pPr>
            <a:r>
              <a:rPr lang="en-US" sz="4000" b="1" dirty="0">
                <a:solidFill>
                  <a:srgbClr val="6750A4"/>
                </a:solidFill>
                <a:latin typeface="Calibri" pitchFamily="34" charset="0"/>
                <a:ea typeface="Calibri" pitchFamily="34" charset="-122"/>
                <a:cs typeface="Calibri" pitchFamily="34" charset="-120"/>
              </a:rPr>
              <a:t>42,306</a:t>
            </a:r>
            <a:endParaRPr lang="en-US" sz="4000" dirty="0"/>
          </a:p>
        </p:txBody>
      </p:sp>
      <p:sp>
        <p:nvSpPr>
          <p:cNvPr id="4" name="Text 2"/>
          <p:cNvSpPr txBox="1"/>
          <p:nvPr/>
        </p:nvSpPr>
        <p:spPr>
          <a:xfrm>
            <a:off x="548640" y="2130552"/>
            <a:ext cx="4206240" cy="640080"/>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plot summaries from Wikipedia (2012), the CMU Movie Summary Corpus</a:t>
            </a:r>
            <a:endParaRPr lang="en-US" sz="1500" dirty="0"/>
          </a:p>
        </p:txBody>
      </p:sp>
      <p:sp>
        <p:nvSpPr>
          <p:cNvPr id="5" name="Text 3"/>
          <p:cNvSpPr txBox="1"/>
          <p:nvPr/>
        </p:nvSpPr>
        <p:spPr>
          <a:xfrm>
            <a:off x="548640" y="3017520"/>
            <a:ext cx="4206240" cy="685800"/>
          </a:xfrm>
          <a:prstGeom prst="rect">
            <a:avLst/>
          </a:prstGeom>
          <a:noFill/>
          <a:ln/>
        </p:spPr>
        <p:txBody>
          <a:bodyPr wrap="square" lIns="0" tIns="0" rIns="0" bIns="0" rtlCol="0" anchor="t"/>
          <a:lstStyle/>
          <a:p>
            <a:pPr indent="0" marL="0">
              <a:buNone/>
            </a:pPr>
            <a:r>
              <a:rPr lang="en-US" sz="4000" b="1" dirty="0">
                <a:solidFill>
                  <a:srgbClr val="6750A4"/>
                </a:solidFill>
                <a:latin typeface="Calibri" pitchFamily="34" charset="0"/>
                <a:ea typeface="Calibri" pitchFamily="34" charset="-122"/>
                <a:cs typeface="Calibri" pitchFamily="34" charset="-120"/>
              </a:rPr>
              <a:t>363 → 15</a:t>
            </a:r>
            <a:endParaRPr lang="en-US" sz="4000" dirty="0"/>
          </a:p>
        </p:txBody>
      </p:sp>
      <p:sp>
        <p:nvSpPr>
          <p:cNvPr id="6" name="Text 4"/>
          <p:cNvSpPr txBox="1"/>
          <p:nvPr/>
        </p:nvSpPr>
        <p:spPr>
          <a:xfrm>
            <a:off x="548640" y="3730752"/>
            <a:ext cx="4206240" cy="640080"/>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Freebase genre labels, mapped onto 15 story genres</a:t>
            </a:r>
            <a:endParaRPr lang="en-US" sz="1500" dirty="0"/>
          </a:p>
        </p:txBody>
      </p:sp>
      <p:sp>
        <p:nvSpPr>
          <p:cNvPr id="7" name="Text 5"/>
          <p:cNvSpPr txBox="1"/>
          <p:nvPr/>
        </p:nvSpPr>
        <p:spPr>
          <a:xfrm>
            <a:off x="548640" y="4434840"/>
            <a:ext cx="4206240" cy="685800"/>
          </a:xfrm>
          <a:prstGeom prst="rect">
            <a:avLst/>
          </a:prstGeom>
          <a:noFill/>
          <a:ln/>
        </p:spPr>
        <p:txBody>
          <a:bodyPr wrap="square" lIns="0" tIns="0" rIns="0" bIns="0" rtlCol="0" anchor="t"/>
          <a:lstStyle/>
          <a:p>
            <a:pPr indent="0" marL="0">
              <a:buNone/>
            </a:pPr>
            <a:r>
              <a:rPr lang="en-US" sz="4000" b="1" dirty="0">
                <a:solidFill>
                  <a:srgbClr val="6750A4"/>
                </a:solidFill>
                <a:latin typeface="Calibri" pitchFamily="34" charset="0"/>
                <a:ea typeface="Calibri" pitchFamily="34" charset="-122"/>
                <a:cs typeface="Calibri" pitchFamily="34" charset="-120"/>
              </a:rPr>
              <a:t>38,397</a:t>
            </a:r>
            <a:endParaRPr lang="en-US" sz="4000" dirty="0"/>
          </a:p>
        </p:txBody>
      </p:sp>
      <p:sp>
        <p:nvSpPr>
          <p:cNvPr id="8" name="Text 6"/>
          <p:cNvSpPr txBox="1"/>
          <p:nvPr/>
        </p:nvSpPr>
        <p:spPr>
          <a:xfrm>
            <a:off x="548640" y="5148072"/>
            <a:ext cx="4206240" cy="640080"/>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films kept after mapping and removing duplicates</a:t>
            </a:r>
            <a:endParaRPr lang="en-US" sz="1500" dirty="0"/>
          </a:p>
        </p:txBody>
      </p:sp>
      <p:sp>
        <p:nvSpPr>
          <p:cNvPr id="9" name="Text 7"/>
          <p:cNvSpPr txBox="1"/>
          <p:nvPr/>
        </p:nvSpPr>
        <p:spPr>
          <a:xfrm>
            <a:off x="5303520" y="1325880"/>
            <a:ext cx="6309360" cy="320040"/>
          </a:xfrm>
          <a:prstGeom prst="rect">
            <a:avLst/>
          </a:prstGeom>
          <a:noFill/>
          <a:ln/>
        </p:spPr>
        <p:txBody>
          <a:bodyPr wrap="square" lIns="0" tIns="0" rIns="0" bIns="0" rtlCol="0" anchor="t"/>
          <a:lstStyle/>
          <a:p>
            <a:pPr indent="0" marL="0">
              <a:buNone/>
            </a:pPr>
            <a:r>
              <a:rPr lang="en-US" sz="1400" b="1" dirty="0">
                <a:solidFill>
                  <a:srgbClr val="1F1A2B"/>
                </a:solidFill>
                <a:latin typeface="Calibri" pitchFamily="34" charset="0"/>
                <a:ea typeface="Calibri" pitchFamily="34" charset="-122"/>
                <a:cs typeface="Calibri" pitchFamily="34" charset="-120"/>
              </a:rPr>
              <a:t>Share of films tagged with each genre</a:t>
            </a:r>
            <a:endParaRPr lang="en-US" sz="1400" dirty="0"/>
          </a:p>
        </p:txBody>
      </p:sp>
      <p:graphicFrame>
        <p:nvGraphicFramePr>
          <p:cNvPr id="10" name="Chart 0" descr="Bar chart of the share of films tagged with each genre, from Drama at 52% down to Western at 3%."/>
          <p:cNvGraphicFramePr/>
          <p:nvPr/>
        </p:nvGraphicFramePr>
        <p:xfrm>
          <a:off x="5166360" y="1691640"/>
          <a:ext cx="649224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How it fits together</a:t>
            </a:r>
            <a:endParaRPr lang="en-US" sz="3000" dirty="0"/>
          </a:p>
        </p:txBody>
      </p:sp>
      <p:sp>
        <p:nvSpPr>
          <p:cNvPr id="3" name="Shape 1"/>
          <p:cNvSpPr/>
          <p:nvPr/>
        </p:nvSpPr>
        <p:spPr>
          <a:xfrm>
            <a:off x="548640" y="1600200"/>
            <a:ext cx="3246120" cy="1874520"/>
          </a:xfrm>
          <a:prstGeom prst="roundRect">
            <a:avLst>
              <a:gd name="adj" fmla="val 8780"/>
            </a:avLst>
          </a:prstGeom>
          <a:solidFill>
            <a:srgbClr val="F1ECF8"/>
          </a:solidFill>
          <a:ln w="12700">
            <a:solidFill>
              <a:srgbClr val="F1ECF8"/>
            </a:solidFill>
            <a:prstDash val="solid"/>
          </a:ln>
        </p:spPr>
      </p:sp>
      <p:sp>
        <p:nvSpPr>
          <p:cNvPr id="4" name="Text 2"/>
          <p:cNvSpPr txBox="1"/>
          <p:nvPr/>
        </p:nvSpPr>
        <p:spPr>
          <a:xfrm>
            <a:off x="822960" y="1938528"/>
            <a:ext cx="2697480" cy="457200"/>
          </a:xfrm>
          <a:prstGeom prst="rect">
            <a:avLst/>
          </a:prstGeom>
          <a:noFill/>
          <a:ln/>
        </p:spPr>
        <p:txBody>
          <a:bodyPr wrap="square" lIns="0" tIns="0" rIns="0" bIns="0" rtlCol="0" anchor="t"/>
          <a:lstStyle/>
          <a:p>
            <a:pPr indent="0" marL="0">
              <a:buNone/>
            </a:pPr>
            <a:r>
              <a:rPr lang="en-US" sz="2200" b="1" dirty="0">
                <a:solidFill>
                  <a:srgbClr val="1F1A2B"/>
                </a:solidFill>
                <a:latin typeface="Calibri" pitchFamily="34" charset="0"/>
                <a:ea typeface="Calibri" pitchFamily="34" charset="-122"/>
                <a:cs typeface="Calibri" pitchFamily="34" charset="-120"/>
              </a:rPr>
              <a:t>Train in Python</a:t>
            </a:r>
            <a:endParaRPr lang="en-US" sz="2200" dirty="0"/>
          </a:p>
        </p:txBody>
      </p:sp>
      <p:sp>
        <p:nvSpPr>
          <p:cNvPr id="5" name="Text 3"/>
          <p:cNvSpPr txBox="1"/>
          <p:nvPr/>
        </p:nvSpPr>
        <p:spPr>
          <a:xfrm>
            <a:off x="822960" y="2505456"/>
            <a:ext cx="2697480" cy="868680"/>
          </a:xfrm>
          <a:prstGeom prst="rect">
            <a:avLst/>
          </a:prstGeom>
          <a:noFill/>
          <a:ln/>
        </p:spPr>
        <p:txBody>
          <a:bodyPr wrap="square" lIns="0" tIns="0" rIns="0" bIns="0" rtlCol="0" anchor="t"/>
          <a:lstStyle/>
          <a:p>
            <a:pPr indent="0" marL="0">
              <a:lnSpc>
                <a:spcPct val="105000"/>
              </a:lnSpc>
              <a:buNone/>
            </a:pPr>
            <a:r>
              <a:rPr lang="en-US" sz="1500" dirty="0">
                <a:solidFill>
                  <a:srgbClr val="3A3646"/>
                </a:solidFill>
                <a:latin typeface="Calibri" pitchFamily="34" charset="0"/>
                <a:ea typeface="Calibri" pitchFamily="34" charset="-122"/>
                <a:cs typeface="Calibri" pitchFamily="34" charset="-120"/>
              </a:rPr>
              <a:t>scikit-learn</a:t>
            </a:r>
            <a:endParaRPr lang="en-US" sz="1500" dirty="0"/>
          </a:p>
          <a:p>
            <a:pPr indent="0" marL="0">
              <a:lnSpc>
                <a:spcPct val="105000"/>
              </a:lnSpc>
              <a:buNone/>
            </a:pPr>
            <a:r>
              <a:rPr lang="en-US" sz="1500" dirty="0">
                <a:solidFill>
                  <a:srgbClr val="3A3646"/>
                </a:solidFill>
                <a:latin typeface="Calibri" pitchFamily="34" charset="0"/>
                <a:ea typeface="Calibri" pitchFamily="34" charset="-122"/>
                <a:cs typeface="Calibri" pitchFamily="34" charset="-120"/>
              </a:rPr>
              <a:t>TF-IDF + 15 logistic regressions</a:t>
            </a:r>
            <a:endParaRPr lang="en-US" sz="1500" dirty="0"/>
          </a:p>
        </p:txBody>
      </p:sp>
      <p:sp>
        <p:nvSpPr>
          <p:cNvPr id="6" name="Shape 4"/>
          <p:cNvSpPr/>
          <p:nvPr/>
        </p:nvSpPr>
        <p:spPr>
          <a:xfrm>
            <a:off x="3895344" y="2377440"/>
            <a:ext cx="411480" cy="329184"/>
          </a:xfrm>
          <a:prstGeom prst="rightArrow">
            <a:avLst/>
          </a:prstGeom>
          <a:solidFill>
            <a:srgbClr val="8C8799"/>
          </a:solidFill>
          <a:ln w="12700">
            <a:solidFill>
              <a:srgbClr val="8C8799"/>
            </a:solidFill>
            <a:prstDash val="solid"/>
          </a:ln>
        </p:spPr>
      </p:sp>
      <p:sp>
        <p:nvSpPr>
          <p:cNvPr id="7" name="Shape 5"/>
          <p:cNvSpPr/>
          <p:nvPr/>
        </p:nvSpPr>
        <p:spPr>
          <a:xfrm>
            <a:off x="4389120" y="1600200"/>
            <a:ext cx="3246120" cy="1874520"/>
          </a:xfrm>
          <a:prstGeom prst="roundRect">
            <a:avLst>
              <a:gd name="adj" fmla="val 8780"/>
            </a:avLst>
          </a:prstGeom>
          <a:solidFill>
            <a:srgbClr val="6750A4"/>
          </a:solidFill>
          <a:ln w="12700">
            <a:solidFill>
              <a:srgbClr val="6750A4"/>
            </a:solidFill>
            <a:prstDash val="solid"/>
          </a:ln>
        </p:spPr>
      </p:sp>
      <p:sp>
        <p:nvSpPr>
          <p:cNvPr id="8" name="Text 6"/>
          <p:cNvSpPr txBox="1"/>
          <p:nvPr/>
        </p:nvSpPr>
        <p:spPr>
          <a:xfrm>
            <a:off x="4663440" y="1938528"/>
            <a:ext cx="2697480" cy="457200"/>
          </a:xfrm>
          <a:prstGeom prst="rect">
            <a:avLst/>
          </a:prstGeom>
          <a:noFill/>
          <a:ln/>
        </p:spPr>
        <p:txBody>
          <a:bodyPr wrap="square" lIns="0" tIns="0" rIns="0" bIns="0" rtlCol="0" anchor="t"/>
          <a:lstStyle/>
          <a:p>
            <a:pPr indent="0" marL="0">
              <a:buNone/>
            </a:pPr>
            <a:r>
              <a:rPr lang="en-US" sz="2200" b="1" dirty="0">
                <a:solidFill>
                  <a:srgbClr val="FFFFFF"/>
                </a:solidFill>
                <a:latin typeface="Consolas" pitchFamily="34" charset="0"/>
                <a:ea typeface="Consolas" pitchFamily="34" charset="-122"/>
                <a:cs typeface="Consolas" pitchFamily="34" charset="-120"/>
              </a:rPr>
              <a:t>model.json</a:t>
            </a:r>
            <a:endParaRPr lang="en-US" sz="2200" dirty="0"/>
          </a:p>
        </p:txBody>
      </p:sp>
      <p:sp>
        <p:nvSpPr>
          <p:cNvPr id="9" name="Text 7"/>
          <p:cNvSpPr txBox="1"/>
          <p:nvPr/>
        </p:nvSpPr>
        <p:spPr>
          <a:xfrm>
            <a:off x="4663440" y="2505456"/>
            <a:ext cx="2697480" cy="868680"/>
          </a:xfrm>
          <a:prstGeom prst="rect">
            <a:avLst/>
          </a:prstGeom>
          <a:noFill/>
          <a:ln/>
        </p:spPr>
        <p:txBody>
          <a:bodyPr wrap="square" lIns="0" tIns="0" rIns="0" bIns="0" rtlCol="0" anchor="t"/>
          <a:lstStyle/>
          <a:p>
            <a:pPr indent="0" marL="0">
              <a:lnSpc>
                <a:spcPct val="105000"/>
              </a:lnSpc>
              <a:buNone/>
            </a:pPr>
            <a:r>
              <a:rPr lang="en-US" sz="1500" dirty="0">
                <a:solidFill>
                  <a:srgbClr val="EDE7F8"/>
                </a:solidFill>
                <a:latin typeface="Calibri" pitchFamily="34" charset="0"/>
                <a:ea typeface="Calibri" pitchFamily="34" charset="-122"/>
                <a:cs typeface="Calibri" pitchFamily="34" charset="-120"/>
              </a:rPr>
              <a:t>3.5 MB</a:t>
            </a:r>
            <a:endParaRPr lang="en-US" sz="1500" dirty="0"/>
          </a:p>
          <a:p>
            <a:pPr indent="0" marL="0">
              <a:lnSpc>
                <a:spcPct val="105000"/>
              </a:lnSpc>
              <a:buNone/>
            </a:pPr>
            <a:r>
              <a:rPr lang="en-US" sz="1500" dirty="0">
                <a:solidFill>
                  <a:srgbClr val="EDE7F8"/>
                </a:solidFill>
                <a:latin typeface="Calibri" pitchFamily="34" charset="0"/>
                <a:ea typeface="Calibri" pitchFamily="34" charset="-122"/>
                <a:cs typeface="Calibri" pitchFamily="34" charset="-120"/>
              </a:rPr>
              <a:t>vocabulary, IDF values, weights, thresholds</a:t>
            </a:r>
            <a:endParaRPr lang="en-US" sz="1500" dirty="0"/>
          </a:p>
        </p:txBody>
      </p:sp>
      <p:sp>
        <p:nvSpPr>
          <p:cNvPr id="10" name="Shape 8"/>
          <p:cNvSpPr/>
          <p:nvPr/>
        </p:nvSpPr>
        <p:spPr>
          <a:xfrm>
            <a:off x="7735824" y="2377440"/>
            <a:ext cx="411480" cy="329184"/>
          </a:xfrm>
          <a:prstGeom prst="rightArrow">
            <a:avLst/>
          </a:prstGeom>
          <a:solidFill>
            <a:srgbClr val="8C8799"/>
          </a:solidFill>
          <a:ln w="12700">
            <a:solidFill>
              <a:srgbClr val="8C8799"/>
            </a:solidFill>
            <a:prstDash val="solid"/>
          </a:ln>
        </p:spPr>
      </p:sp>
      <p:sp>
        <p:nvSpPr>
          <p:cNvPr id="11" name="Shape 9"/>
          <p:cNvSpPr/>
          <p:nvPr/>
        </p:nvSpPr>
        <p:spPr>
          <a:xfrm>
            <a:off x="8229600" y="1600200"/>
            <a:ext cx="3246120" cy="1874520"/>
          </a:xfrm>
          <a:prstGeom prst="roundRect">
            <a:avLst>
              <a:gd name="adj" fmla="val 8780"/>
            </a:avLst>
          </a:prstGeom>
          <a:solidFill>
            <a:srgbClr val="F1ECF8"/>
          </a:solidFill>
          <a:ln w="12700">
            <a:solidFill>
              <a:srgbClr val="F1ECF8"/>
            </a:solidFill>
            <a:prstDash val="solid"/>
          </a:ln>
        </p:spPr>
      </p:sp>
      <p:sp>
        <p:nvSpPr>
          <p:cNvPr id="12" name="Text 10"/>
          <p:cNvSpPr txBox="1"/>
          <p:nvPr/>
        </p:nvSpPr>
        <p:spPr>
          <a:xfrm>
            <a:off x="8503920" y="1938528"/>
            <a:ext cx="2697480" cy="457200"/>
          </a:xfrm>
          <a:prstGeom prst="rect">
            <a:avLst/>
          </a:prstGeom>
          <a:noFill/>
          <a:ln/>
        </p:spPr>
        <p:txBody>
          <a:bodyPr wrap="square" lIns="0" tIns="0" rIns="0" bIns="0" rtlCol="0" anchor="t"/>
          <a:lstStyle/>
          <a:p>
            <a:pPr indent="0" marL="0">
              <a:buNone/>
            </a:pPr>
            <a:r>
              <a:rPr lang="en-US" sz="2200" b="1" dirty="0">
                <a:solidFill>
                  <a:srgbClr val="1F1A2B"/>
                </a:solidFill>
                <a:latin typeface="Calibri" pitchFamily="34" charset="0"/>
                <a:ea typeface="Calibri" pitchFamily="34" charset="-122"/>
                <a:cs typeface="Calibri" pitchFamily="34" charset="-120"/>
              </a:rPr>
              <a:t>Predict in Dart</a:t>
            </a:r>
            <a:endParaRPr lang="en-US" sz="2200" dirty="0"/>
          </a:p>
        </p:txBody>
      </p:sp>
      <p:sp>
        <p:nvSpPr>
          <p:cNvPr id="13" name="Text 11"/>
          <p:cNvSpPr txBox="1"/>
          <p:nvPr/>
        </p:nvSpPr>
        <p:spPr>
          <a:xfrm>
            <a:off x="8503920" y="2505456"/>
            <a:ext cx="2697480" cy="868680"/>
          </a:xfrm>
          <a:prstGeom prst="rect">
            <a:avLst/>
          </a:prstGeom>
          <a:noFill/>
          <a:ln/>
        </p:spPr>
        <p:txBody>
          <a:bodyPr wrap="square" lIns="0" tIns="0" rIns="0" bIns="0" rtlCol="0" anchor="t"/>
          <a:lstStyle/>
          <a:p>
            <a:pPr indent="0" marL="0">
              <a:lnSpc>
                <a:spcPct val="105000"/>
              </a:lnSpc>
              <a:buNone/>
            </a:pPr>
            <a:r>
              <a:rPr lang="en-US" sz="1500" dirty="0">
                <a:solidFill>
                  <a:srgbClr val="3A3646"/>
                </a:solidFill>
                <a:latin typeface="Calibri" pitchFamily="34" charset="0"/>
                <a:ea typeface="Calibri" pitchFamily="34" charset="-122"/>
                <a:cs typeface="Calibri" pitchFamily="34" charset="-120"/>
              </a:rPr>
              <a:t>Flutter app, no server</a:t>
            </a:r>
            <a:endParaRPr lang="en-US" sz="1500" dirty="0"/>
          </a:p>
          <a:p>
            <a:pPr indent="0" marL="0">
              <a:lnSpc>
                <a:spcPct val="105000"/>
              </a:lnSpc>
              <a:buNone/>
            </a:pPr>
            <a:r>
              <a:rPr lang="en-US" sz="1500" dirty="0">
                <a:solidFill>
                  <a:srgbClr val="3A3646"/>
                </a:solidFill>
                <a:latin typeface="Calibri" pitchFamily="34" charset="0"/>
                <a:ea typeface="Calibri" pitchFamily="34" charset="-122"/>
                <a:cs typeface="Calibri" pitchFamily="34" charset="-120"/>
              </a:rPr>
              <a:t>about 1 ms per plot on a laptop</a:t>
            </a:r>
            <a:endParaRPr lang="en-US" sz="1500" dirty="0"/>
          </a:p>
        </p:txBody>
      </p:sp>
      <p:sp>
        <p:nvSpPr>
          <p:cNvPr id="14" name="Text 12"/>
          <p:cNvSpPr txBox="1"/>
          <p:nvPr/>
        </p:nvSpPr>
        <p:spPr>
          <a:xfrm>
            <a:off x="548640" y="4069080"/>
            <a:ext cx="5486400" cy="320040"/>
          </a:xfrm>
          <a:prstGeom prst="rect">
            <a:avLst/>
          </a:prstGeom>
          <a:noFill/>
          <a:ln/>
        </p:spPr>
        <p:txBody>
          <a:bodyPr wrap="square" lIns="0" tIns="0" rIns="0" bIns="0" rtlCol="0" anchor="t"/>
          <a:lstStyle/>
          <a:p>
            <a:pPr indent="0" marL="0">
              <a:buNone/>
            </a:pPr>
            <a:r>
              <a:rPr lang="en-US" sz="1400" b="1" dirty="0">
                <a:solidFill>
                  <a:srgbClr val="1F1A2B"/>
                </a:solidFill>
                <a:latin typeface="Calibri" pitchFamily="34" charset="0"/>
                <a:ea typeface="Calibri" pitchFamily="34" charset="-122"/>
                <a:cs typeface="Calibri" pitchFamily="34" charset="-120"/>
              </a:rPr>
              <a:t>How the 38,397 films were split</a:t>
            </a:r>
            <a:endParaRPr lang="en-US" sz="1400" dirty="0"/>
          </a:p>
        </p:txBody>
      </p:sp>
      <p:sp>
        <p:nvSpPr>
          <p:cNvPr id="15" name="Text 13"/>
          <p:cNvSpPr txBox="1"/>
          <p:nvPr/>
        </p:nvSpPr>
        <p:spPr>
          <a:xfrm>
            <a:off x="548640" y="4480560"/>
            <a:ext cx="7632239" cy="566928"/>
          </a:xfrm>
          <a:prstGeom prst="roundRect">
            <a:avLst>
              <a:gd name="adj" fmla="val 16129"/>
            </a:avLst>
          </a:prstGeom>
          <a:solidFill>
            <a:srgbClr val="6750A4"/>
          </a:solidFill>
          <a:ln>
            <a:solidFill>
              <a:srgbClr val="6750A4"/>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Training  26,877</a:t>
            </a:r>
            <a:endParaRPr lang="en-US" sz="1500" dirty="0"/>
          </a:p>
        </p:txBody>
      </p:sp>
      <p:sp>
        <p:nvSpPr>
          <p:cNvPr id="16" name="Text 14"/>
          <p:cNvSpPr txBox="1"/>
          <p:nvPr/>
        </p:nvSpPr>
        <p:spPr>
          <a:xfrm>
            <a:off x="8235743" y="4480560"/>
            <a:ext cx="1592556" cy="566928"/>
          </a:xfrm>
          <a:prstGeom prst="roundRect">
            <a:avLst>
              <a:gd name="adj" fmla="val 16129"/>
            </a:avLst>
          </a:prstGeom>
          <a:solidFill>
            <a:srgbClr val="B4A6DB"/>
          </a:solidFill>
          <a:ln>
            <a:solidFill>
              <a:srgbClr val="B4A6DB"/>
            </a:solidFill>
          </a:ln>
        </p:spPr>
        <p:txBody>
          <a:bodyPr wrap="square" lIns="0" tIns="0" rIns="0" bIns="0" rtlCol="0" anchor="ctr"/>
          <a:lstStyle/>
          <a:p>
            <a:pPr algn="ctr" indent="0" marL="0">
              <a:buNone/>
            </a:pPr>
            <a:r>
              <a:rPr lang="en-US" sz="1500" b="1" dirty="0">
                <a:solidFill>
                  <a:srgbClr val="1F1A2B"/>
                </a:solidFill>
                <a:latin typeface="Calibri" pitchFamily="34" charset="0"/>
                <a:ea typeface="Calibri" pitchFamily="34" charset="-122"/>
                <a:cs typeface="Calibri" pitchFamily="34" charset="-120"/>
              </a:rPr>
              <a:t>Validation  5,760</a:t>
            </a:r>
            <a:endParaRPr lang="en-US" sz="1500" dirty="0"/>
          </a:p>
        </p:txBody>
      </p:sp>
      <p:sp>
        <p:nvSpPr>
          <p:cNvPr id="17" name="Text 15"/>
          <p:cNvSpPr txBox="1"/>
          <p:nvPr/>
        </p:nvSpPr>
        <p:spPr>
          <a:xfrm>
            <a:off x="9883164" y="4480560"/>
            <a:ext cx="1592556" cy="566928"/>
          </a:xfrm>
          <a:prstGeom prst="roundRect">
            <a:avLst>
              <a:gd name="adj" fmla="val 16129"/>
            </a:avLst>
          </a:prstGeom>
          <a:solidFill>
            <a:srgbClr val="E3DCF1"/>
          </a:solidFill>
          <a:ln>
            <a:solidFill>
              <a:srgbClr val="E3DCF1"/>
            </a:solidFill>
          </a:ln>
        </p:spPr>
        <p:txBody>
          <a:bodyPr wrap="square" lIns="0" tIns="0" rIns="0" bIns="0" rtlCol="0" anchor="ctr"/>
          <a:lstStyle/>
          <a:p>
            <a:pPr algn="ctr" indent="0" marL="0">
              <a:buNone/>
            </a:pPr>
            <a:r>
              <a:rPr lang="en-US" sz="1500" b="1" dirty="0">
                <a:solidFill>
                  <a:srgbClr val="1F1A2B"/>
                </a:solidFill>
                <a:latin typeface="Calibri" pitchFamily="34" charset="0"/>
                <a:ea typeface="Calibri" pitchFamily="34" charset="-122"/>
                <a:cs typeface="Calibri" pitchFamily="34" charset="-120"/>
              </a:rPr>
              <a:t>Test  5,760</a:t>
            </a:r>
            <a:endParaRPr lang="en-US" sz="1500" dirty="0"/>
          </a:p>
        </p:txBody>
      </p:sp>
      <p:sp>
        <p:nvSpPr>
          <p:cNvPr id="18" name="Text 16"/>
          <p:cNvSpPr txBox="1"/>
          <p:nvPr/>
        </p:nvSpPr>
        <p:spPr>
          <a:xfrm>
            <a:off x="548640" y="5257800"/>
            <a:ext cx="11064240" cy="411480"/>
          </a:xfrm>
          <a:prstGeom prst="rect">
            <a:avLst/>
          </a:prstGeom>
          <a:noFill/>
          <a:ln/>
        </p:spPr>
        <p:txBody>
          <a:bodyPr wrap="square" lIns="0" tIns="0" rIns="0" bIns="0" rtlCol="0" anchor="t"/>
          <a:lstStyle/>
          <a:p>
            <a:pPr indent="0" marL="0">
              <a:buNone/>
            </a:pPr>
            <a:r>
              <a:rPr lang="en-US" sz="1500" b="1" dirty="0">
                <a:solidFill>
                  <a:srgbClr val="1F1A2B"/>
                </a:solidFill>
                <a:latin typeface="Calibri" pitchFamily="34" charset="0"/>
                <a:ea typeface="Calibri" pitchFamily="34" charset="-122"/>
                <a:cs typeface="Calibri" pitchFamily="34" charset="-120"/>
              </a:rPr>
              <a:t>Training: </a:t>
            </a:r>
            <a:pPr indent="0" marL="0">
              <a:buNone/>
            </a:pPr>
            <a:r>
              <a:rPr lang="en-US" sz="1500" dirty="0">
                <a:solidFill>
                  <a:srgbClr val="3A3646"/>
                </a:solidFill>
                <a:latin typeface="Calibri" pitchFamily="34" charset="0"/>
                <a:ea typeface="Calibri" pitchFamily="34" charset="-122"/>
                <a:cs typeface="Calibri" pitchFamily="34" charset="-120"/>
              </a:rPr>
              <a:t>fit the model.   </a:t>
            </a:r>
            <a:pPr indent="0" marL="0">
              <a:buNone/>
            </a:pPr>
            <a:r>
              <a:rPr lang="en-US" sz="1500" b="1" dirty="0">
                <a:solidFill>
                  <a:srgbClr val="1F1A2B"/>
                </a:solidFill>
                <a:latin typeface="Calibri" pitchFamily="34" charset="0"/>
                <a:ea typeface="Calibri" pitchFamily="34" charset="-122"/>
                <a:cs typeface="Calibri" pitchFamily="34" charset="-120"/>
              </a:rPr>
              <a:t>Validation: </a:t>
            </a:r>
            <a:pPr indent="0" marL="0">
              <a:buNone/>
            </a:pPr>
            <a:r>
              <a:rPr lang="en-US" sz="1500" dirty="0">
                <a:solidFill>
                  <a:srgbClr val="3A3646"/>
                </a:solidFill>
                <a:latin typeface="Calibri" pitchFamily="34" charset="0"/>
                <a:ea typeface="Calibri" pitchFamily="34" charset="-122"/>
                <a:cs typeface="Calibri" pitchFamily="34" charset="-120"/>
              </a:rPr>
              <a:t>every setting I tuned.   </a:t>
            </a:r>
            <a:pPr indent="0" marL="0">
              <a:buNone/>
            </a:pPr>
            <a:r>
              <a:rPr lang="en-US" sz="1500" b="1" dirty="0">
                <a:solidFill>
                  <a:srgbClr val="1F1A2B"/>
                </a:solidFill>
                <a:latin typeface="Calibri" pitchFamily="34" charset="0"/>
                <a:ea typeface="Calibri" pitchFamily="34" charset="-122"/>
                <a:cs typeface="Calibri" pitchFamily="34" charset="-120"/>
              </a:rPr>
              <a:t>Test: </a:t>
            </a:r>
            <a:pPr indent="0" marL="0">
              <a:buNone/>
            </a:pPr>
            <a:r>
              <a:rPr lang="en-US" sz="1500" dirty="0">
                <a:solidFill>
                  <a:srgbClr val="3A3646"/>
                </a:solidFill>
                <a:latin typeface="Calibri" pitchFamily="34" charset="0"/>
                <a:ea typeface="Calibri" pitchFamily="34" charset="-122"/>
                <a:cs typeface="Calibri" pitchFamily="34" charset="-120"/>
              </a:rPr>
              <a:t>used once, at the very end.</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The model</a:t>
            </a:r>
            <a:endParaRPr lang="en-US" sz="3000" dirty="0"/>
          </a:p>
        </p:txBody>
      </p:sp>
      <p:sp>
        <p:nvSpPr>
          <p:cNvPr id="3" name="Text 1"/>
          <p:cNvSpPr txBox="1"/>
          <p:nvPr/>
        </p:nvSpPr>
        <p:spPr>
          <a:xfrm>
            <a:off x="548640" y="1463040"/>
            <a:ext cx="4937760" cy="384048"/>
          </a:xfrm>
          <a:prstGeom prst="rect">
            <a:avLst/>
          </a:prstGeom>
          <a:noFill/>
          <a:ln/>
        </p:spPr>
        <p:txBody>
          <a:bodyPr wrap="square" lIns="0" tIns="0" rIns="0" bIns="0" rtlCol="0" anchor="t"/>
          <a:lstStyle/>
          <a:p>
            <a:pPr indent="0" marL="0">
              <a:buNone/>
            </a:pPr>
            <a:r>
              <a:rPr lang="en-US" sz="2000" b="1" dirty="0">
                <a:solidFill>
                  <a:srgbClr val="1F1A2B"/>
                </a:solidFill>
                <a:latin typeface="Calibri" pitchFamily="34" charset="0"/>
                <a:ea typeface="Calibri" pitchFamily="34" charset="-122"/>
                <a:cs typeface="Calibri" pitchFamily="34" charset="-120"/>
              </a:rPr>
              <a:t>TF-IDF over 20,000 words</a:t>
            </a:r>
            <a:endParaRPr lang="en-US" sz="2000" dirty="0"/>
          </a:p>
        </p:txBody>
      </p:sp>
      <p:sp>
        <p:nvSpPr>
          <p:cNvPr id="4" name="Text 2"/>
          <p:cNvSpPr txBox="1"/>
          <p:nvPr/>
        </p:nvSpPr>
        <p:spPr>
          <a:xfrm>
            <a:off x="548640" y="1883664"/>
            <a:ext cx="4937760" cy="640080"/>
          </a:xfrm>
          <a:prstGeom prst="rect">
            <a:avLst/>
          </a:prstGeom>
          <a:noFill/>
          <a:ln/>
        </p:spPr>
        <p:txBody>
          <a:bodyPr wrap="square" lIns="0" tIns="0" rIns="0" bIns="0" rtlCol="0" anchor="t"/>
          <a:lstStyle/>
          <a:p>
            <a:pPr indent="0" marL="0">
              <a:buNone/>
            </a:pPr>
            <a:r>
              <a:rPr lang="en-US" sz="1600" dirty="0">
                <a:solidFill>
                  <a:srgbClr val="3A3646"/>
                </a:solidFill>
                <a:latin typeface="Calibri" pitchFamily="34" charset="0"/>
                <a:ea typeface="Calibri" pitchFamily="34" charset="-122"/>
                <a:cs typeface="Calibri" pitchFamily="34" charset="-120"/>
              </a:rPr>
              <a:t>Common words count for less, rare words for more.</a:t>
            </a:r>
            <a:endParaRPr lang="en-US" sz="1600" dirty="0"/>
          </a:p>
        </p:txBody>
      </p:sp>
      <p:sp>
        <p:nvSpPr>
          <p:cNvPr id="5" name="Text 3"/>
          <p:cNvSpPr txBox="1"/>
          <p:nvPr/>
        </p:nvSpPr>
        <p:spPr>
          <a:xfrm>
            <a:off x="548640" y="2743200"/>
            <a:ext cx="4937760" cy="384048"/>
          </a:xfrm>
          <a:prstGeom prst="rect">
            <a:avLst/>
          </a:prstGeom>
          <a:noFill/>
          <a:ln/>
        </p:spPr>
        <p:txBody>
          <a:bodyPr wrap="square" lIns="0" tIns="0" rIns="0" bIns="0" rtlCol="0" anchor="t"/>
          <a:lstStyle/>
          <a:p>
            <a:pPr indent="0" marL="0">
              <a:buNone/>
            </a:pPr>
            <a:r>
              <a:rPr lang="en-US" sz="2000" b="1" dirty="0">
                <a:solidFill>
                  <a:srgbClr val="1F1A2B"/>
                </a:solidFill>
                <a:latin typeface="Calibri" pitchFamily="34" charset="0"/>
                <a:ea typeface="Calibri" pitchFamily="34" charset="-122"/>
                <a:cs typeface="Calibri" pitchFamily="34" charset="-120"/>
              </a:rPr>
              <a:t>15 logistic regressions</a:t>
            </a:r>
            <a:endParaRPr lang="en-US" sz="2000" dirty="0"/>
          </a:p>
        </p:txBody>
      </p:sp>
      <p:sp>
        <p:nvSpPr>
          <p:cNvPr id="6" name="Text 4"/>
          <p:cNvSpPr txBox="1"/>
          <p:nvPr/>
        </p:nvSpPr>
        <p:spPr>
          <a:xfrm>
            <a:off x="548640" y="3163824"/>
            <a:ext cx="4937760" cy="640080"/>
          </a:xfrm>
          <a:prstGeom prst="rect">
            <a:avLst/>
          </a:prstGeom>
          <a:noFill/>
          <a:ln/>
        </p:spPr>
        <p:txBody>
          <a:bodyPr wrap="square" lIns="0" tIns="0" rIns="0" bIns="0" rtlCol="0" anchor="t"/>
          <a:lstStyle/>
          <a:p>
            <a:pPr indent="0" marL="0">
              <a:buNone/>
            </a:pPr>
            <a:r>
              <a:rPr lang="en-US" sz="1600" dirty="0">
                <a:solidFill>
                  <a:srgbClr val="3A3646"/>
                </a:solidFill>
                <a:latin typeface="Calibri" pitchFamily="34" charset="0"/>
                <a:ea typeface="Calibri" pitchFamily="34" charset="-122"/>
                <a:cs typeface="Calibri" pitchFamily="34" charset="-120"/>
              </a:rPr>
              <a:t>One per genre, with balanced class weights.</a:t>
            </a:r>
            <a:endParaRPr lang="en-US" sz="1600" dirty="0"/>
          </a:p>
        </p:txBody>
      </p:sp>
      <p:sp>
        <p:nvSpPr>
          <p:cNvPr id="7" name="Text 5"/>
          <p:cNvSpPr txBox="1"/>
          <p:nvPr/>
        </p:nvSpPr>
        <p:spPr>
          <a:xfrm>
            <a:off x="548640" y="4023360"/>
            <a:ext cx="4937760" cy="384048"/>
          </a:xfrm>
          <a:prstGeom prst="rect">
            <a:avLst/>
          </a:prstGeom>
          <a:noFill/>
          <a:ln/>
        </p:spPr>
        <p:txBody>
          <a:bodyPr wrap="square" lIns="0" tIns="0" rIns="0" bIns="0" rtlCol="0" anchor="t"/>
          <a:lstStyle/>
          <a:p>
            <a:pPr indent="0" marL="0">
              <a:buNone/>
            </a:pPr>
            <a:r>
              <a:rPr lang="en-US" sz="2000" b="1" dirty="0">
                <a:solidFill>
                  <a:srgbClr val="1F1A2B"/>
                </a:solidFill>
                <a:latin typeface="Calibri" pitchFamily="34" charset="0"/>
                <a:ea typeface="Calibri" pitchFamily="34" charset="-122"/>
                <a:cs typeface="Calibri" pitchFamily="34" charset="-120"/>
              </a:rPr>
              <a:t>A threshold per genre</a:t>
            </a:r>
            <a:endParaRPr lang="en-US" sz="2000" dirty="0"/>
          </a:p>
        </p:txBody>
      </p:sp>
      <p:sp>
        <p:nvSpPr>
          <p:cNvPr id="8" name="Text 6"/>
          <p:cNvSpPr txBox="1"/>
          <p:nvPr/>
        </p:nvSpPr>
        <p:spPr>
          <a:xfrm>
            <a:off x="548640" y="4443984"/>
            <a:ext cx="4937760" cy="640080"/>
          </a:xfrm>
          <a:prstGeom prst="rect">
            <a:avLst/>
          </a:prstGeom>
          <a:noFill/>
          <a:ln/>
        </p:spPr>
        <p:txBody>
          <a:bodyPr wrap="square" lIns="0" tIns="0" rIns="0" bIns="0" rtlCol="0" anchor="t"/>
          <a:lstStyle/>
          <a:p>
            <a:pPr indent="0" marL="0">
              <a:buNone/>
            </a:pPr>
            <a:r>
              <a:rPr lang="en-US" sz="1600" dirty="0">
                <a:solidFill>
                  <a:srgbClr val="3A3646"/>
                </a:solidFill>
                <a:latin typeface="Calibri" pitchFamily="34" charset="0"/>
                <a:ea typeface="Calibri" pitchFamily="34" charset="-122"/>
                <a:cs typeface="Calibri" pitchFamily="34" charset="-120"/>
              </a:rPr>
              <a:t>From 0.39 (Drama) to 0.72 (War), set on validation data.</a:t>
            </a:r>
            <a:endParaRPr lang="en-US" sz="1600" dirty="0"/>
          </a:p>
        </p:txBody>
      </p:sp>
      <p:sp>
        <p:nvSpPr>
          <p:cNvPr id="9" name="Text 7"/>
          <p:cNvSpPr txBox="1"/>
          <p:nvPr/>
        </p:nvSpPr>
        <p:spPr>
          <a:xfrm>
            <a:off x="6126480" y="1325880"/>
            <a:ext cx="5486400" cy="320040"/>
          </a:xfrm>
          <a:prstGeom prst="rect">
            <a:avLst/>
          </a:prstGeom>
          <a:noFill/>
          <a:ln/>
        </p:spPr>
        <p:txBody>
          <a:bodyPr wrap="square" lIns="0" tIns="0" rIns="0" bIns="0" rtlCol="0" anchor="t"/>
          <a:lstStyle/>
          <a:p>
            <a:pPr indent="0" marL="0">
              <a:buNone/>
            </a:pPr>
            <a:r>
              <a:rPr lang="en-US" sz="1400" b="1" dirty="0">
                <a:solidFill>
                  <a:srgbClr val="1F1A2B"/>
                </a:solidFill>
                <a:latin typeface="Calibri" pitchFamily="34" charset="0"/>
                <a:ea typeface="Calibri" pitchFamily="34" charset="-122"/>
                <a:cs typeface="Calibri" pitchFamily="34" charset="-120"/>
              </a:rPr>
              <a:t>Choosing C (regularisation) on validation data</a:t>
            </a:r>
            <a:endParaRPr lang="en-US" sz="1400" dirty="0"/>
          </a:p>
        </p:txBody>
      </p:sp>
      <p:graphicFrame>
        <p:nvGraphicFramePr>
          <p:cNvPr id="10" name="Chart 0" descr="Line chart of validation macro-F1 for C from 0.25 to 8. It peaks at 0.615 when C is 1."/>
          <p:cNvGraphicFramePr/>
          <p:nvPr/>
        </p:nvGraphicFramePr>
        <p:xfrm>
          <a:off x="5989320" y="1691640"/>
          <a:ext cx="5669280" cy="384048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6126480" y="5623560"/>
            <a:ext cx="5486400" cy="365760"/>
          </a:xfrm>
          <a:prstGeom prst="rect">
            <a:avLst/>
          </a:prstGeom>
          <a:noFill/>
          <a:ln/>
        </p:spPr>
        <p:txBody>
          <a:bodyPr wrap="square" lIns="0" tIns="0" rIns="0" bIns="0" rtlCol="0" anchor="t"/>
          <a:lstStyle/>
          <a:p>
            <a:pPr indent="0" marL="0">
              <a:buNone/>
            </a:pPr>
            <a:r>
              <a:rPr lang="en-US" sz="1400" i="1" dirty="0">
                <a:solidFill>
                  <a:srgbClr val="68548E"/>
                </a:solidFill>
                <a:latin typeface="Calibri" pitchFamily="34" charset="0"/>
                <a:ea typeface="Calibri" pitchFamily="34" charset="-122"/>
                <a:cs typeface="Calibri" pitchFamily="34" charset="-120"/>
              </a:rPr>
              <a:t>Best at C = 1 (0.615). All six values are within 0.014.</a:t>
            </a:r>
            <a:endParaRPr lang="en-US" sz="14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Results on 5,760 films it never saw</a:t>
            </a:r>
            <a:endParaRPr lang="en-US" sz="3000" dirty="0"/>
          </a:p>
        </p:txBody>
      </p:sp>
      <p:sp>
        <p:nvSpPr>
          <p:cNvPr id="3" name="Text 1"/>
          <p:cNvSpPr txBox="1"/>
          <p:nvPr/>
        </p:nvSpPr>
        <p:spPr>
          <a:xfrm>
            <a:off x="548640" y="1463040"/>
            <a:ext cx="5120640" cy="1143000"/>
          </a:xfrm>
          <a:prstGeom prst="rect">
            <a:avLst/>
          </a:prstGeom>
          <a:noFill/>
          <a:ln/>
        </p:spPr>
        <p:txBody>
          <a:bodyPr wrap="square" lIns="0" tIns="0" rIns="0" bIns="0" rtlCol="0" anchor="t"/>
          <a:lstStyle/>
          <a:p>
            <a:pPr indent="0" marL="0">
              <a:buNone/>
            </a:pPr>
            <a:r>
              <a:rPr lang="en-US" sz="6600" b="1" dirty="0">
                <a:solidFill>
                  <a:srgbClr val="6750A4"/>
                </a:solidFill>
                <a:latin typeface="Calibri" pitchFamily="34" charset="0"/>
                <a:ea typeface="Calibri" pitchFamily="34" charset="-122"/>
                <a:cs typeface="Calibri" pitchFamily="34" charset="-120"/>
              </a:rPr>
              <a:t>0.643</a:t>
            </a:r>
            <a:endParaRPr lang="en-US" sz="6600" dirty="0"/>
          </a:p>
        </p:txBody>
      </p:sp>
      <p:sp>
        <p:nvSpPr>
          <p:cNvPr id="4" name="Text 2"/>
          <p:cNvSpPr txBox="1"/>
          <p:nvPr/>
        </p:nvSpPr>
        <p:spPr>
          <a:xfrm>
            <a:off x="548640" y="2651760"/>
            <a:ext cx="5120640" cy="411480"/>
          </a:xfrm>
          <a:prstGeom prst="rect">
            <a:avLst/>
          </a:prstGeom>
          <a:noFill/>
          <a:ln/>
        </p:spPr>
        <p:txBody>
          <a:bodyPr wrap="square" lIns="0" tIns="0" rIns="0" bIns="0" rtlCol="0" anchor="t"/>
          <a:lstStyle/>
          <a:p>
            <a:pPr indent="0" marL="0">
              <a:buNone/>
            </a:pPr>
            <a:r>
              <a:rPr lang="en-US" sz="2000" b="1" dirty="0">
                <a:solidFill>
                  <a:srgbClr val="1F1A2B"/>
                </a:solidFill>
                <a:latin typeface="Calibri" pitchFamily="34" charset="0"/>
                <a:ea typeface="Calibri" pitchFamily="34" charset="-122"/>
                <a:cs typeface="Calibri" pitchFamily="34" charset="-120"/>
              </a:rPr>
              <a:t>micro-F1 (all genre decisions pooled)</a:t>
            </a:r>
            <a:endParaRPr lang="en-US" sz="2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600" dirty="0">
                <a:solidFill>
                  <a:srgbClr val="3A3646"/>
                </a:solidFill>
                <a:latin typeface="Calibri" pitchFamily="34" charset="0"/>
                <a:ea typeface="Calibri" pitchFamily="34" charset="-122"/>
                <a:cs typeface="Calibri" pitchFamily="34" charset="-120"/>
              </a:rPr>
              <a:t>95% interval: 0.636 to 0.649</a:t>
            </a:r>
            <a:endParaRPr lang="en-US" sz="1600" dirty="0"/>
          </a:p>
          <a:p>
            <a:pPr indent="0" marL="0">
              <a:buNone/>
            </a:pPr>
            <a:r>
              <a:rPr lang="en-US" sz="1600" dirty="0">
                <a:solidFill>
                  <a:srgbClr val="3A3646"/>
                </a:solidFill>
                <a:latin typeface="Calibri" pitchFamily="34" charset="0"/>
                <a:ea typeface="Calibri" pitchFamily="34" charset="-122"/>
                <a:cs typeface="Calibri" pitchFamily="34" charset="-120"/>
              </a:rPr>
              <a:t>Tagging every film with every genre gets 0.257.</a:t>
            </a:r>
            <a:endParaRPr lang="en-US" sz="1600" dirty="0"/>
          </a:p>
        </p:txBody>
      </p:sp>
      <p:sp>
        <p:nvSpPr>
          <p:cNvPr id="6" name="Text 4"/>
          <p:cNvSpPr txBox="1"/>
          <p:nvPr/>
        </p:nvSpPr>
        <p:spPr>
          <a:xfrm>
            <a:off x="6355080" y="1463040"/>
            <a:ext cx="5120640" cy="1143000"/>
          </a:xfrm>
          <a:prstGeom prst="rect">
            <a:avLst/>
          </a:prstGeom>
          <a:noFill/>
          <a:ln/>
        </p:spPr>
        <p:txBody>
          <a:bodyPr wrap="square" lIns="0" tIns="0" rIns="0" bIns="0" rtlCol="0" anchor="t"/>
          <a:lstStyle/>
          <a:p>
            <a:pPr indent="0" marL="0">
              <a:buNone/>
            </a:pPr>
            <a:r>
              <a:rPr lang="en-US" sz="6600" b="1" dirty="0">
                <a:solidFill>
                  <a:srgbClr val="6750A4"/>
                </a:solidFill>
                <a:latin typeface="Calibri" pitchFamily="34" charset="0"/>
                <a:ea typeface="Calibri" pitchFamily="34" charset="-122"/>
                <a:cs typeface="Calibri" pitchFamily="34" charset="-120"/>
              </a:rPr>
              <a:t>0.598</a:t>
            </a:r>
            <a:endParaRPr lang="en-US" sz="6600" dirty="0"/>
          </a:p>
        </p:txBody>
      </p:sp>
      <p:sp>
        <p:nvSpPr>
          <p:cNvPr id="7" name="Text 5"/>
          <p:cNvSpPr txBox="1"/>
          <p:nvPr/>
        </p:nvSpPr>
        <p:spPr>
          <a:xfrm>
            <a:off x="6355080" y="2651760"/>
            <a:ext cx="5120640" cy="411480"/>
          </a:xfrm>
          <a:prstGeom prst="rect">
            <a:avLst/>
          </a:prstGeom>
          <a:noFill/>
          <a:ln/>
        </p:spPr>
        <p:txBody>
          <a:bodyPr wrap="square" lIns="0" tIns="0" rIns="0" bIns="0" rtlCol="0" anchor="t"/>
          <a:lstStyle/>
          <a:p>
            <a:pPr indent="0" marL="0">
              <a:buNone/>
            </a:pPr>
            <a:r>
              <a:rPr lang="en-US" sz="2000" b="1" dirty="0">
                <a:solidFill>
                  <a:srgbClr val="1F1A2B"/>
                </a:solidFill>
                <a:latin typeface="Calibri" pitchFamily="34" charset="0"/>
                <a:ea typeface="Calibri" pitchFamily="34" charset="-122"/>
                <a:cs typeface="Calibri" pitchFamily="34" charset="-120"/>
              </a:rPr>
              <a:t>macro-F1 (every genre counts equally)</a:t>
            </a:r>
            <a:endParaRPr lang="en-US" sz="2000" dirty="0"/>
          </a:p>
        </p:txBody>
      </p:sp>
      <p:sp>
        <p:nvSpPr>
          <p:cNvPr id="8" name="Text 6"/>
          <p:cNvSpPr txBox="1"/>
          <p:nvPr/>
        </p:nvSpPr>
        <p:spPr>
          <a:xfrm>
            <a:off x="6355080" y="3154680"/>
            <a:ext cx="5120640" cy="731520"/>
          </a:xfrm>
          <a:prstGeom prst="rect">
            <a:avLst/>
          </a:prstGeom>
          <a:noFill/>
          <a:ln/>
        </p:spPr>
        <p:txBody>
          <a:bodyPr wrap="square" lIns="0" tIns="0" rIns="0" bIns="0" rtlCol="0" anchor="t"/>
          <a:lstStyle/>
          <a:p>
            <a:pPr indent="0" marL="0">
              <a:buNone/>
            </a:pPr>
            <a:r>
              <a:rPr lang="en-US" sz="1600" dirty="0">
                <a:solidFill>
                  <a:srgbClr val="3A3646"/>
                </a:solidFill>
                <a:latin typeface="Calibri" pitchFamily="34" charset="0"/>
                <a:ea typeface="Calibri" pitchFamily="34" charset="-122"/>
                <a:cs typeface="Calibri" pitchFamily="34" charset="-120"/>
              </a:rPr>
              <a:t>95% interval: 0.588 to 0.608</a:t>
            </a:r>
            <a:endParaRPr lang="en-US" sz="1600" dirty="0"/>
          </a:p>
          <a:p>
            <a:pPr indent="0" marL="0">
              <a:buNone/>
            </a:pPr>
            <a:r>
              <a:rPr lang="en-US" sz="1600" dirty="0">
                <a:solidFill>
                  <a:srgbClr val="3A3646"/>
                </a:solidFill>
                <a:latin typeface="Calibri" pitchFamily="34" charset="0"/>
                <a:ea typeface="Calibri" pitchFamily="34" charset="-122"/>
                <a:cs typeface="Calibri" pitchFamily="34" charset="-120"/>
              </a:rPr>
              <a:t>Tagging every film with every genre gets 0.239.</a:t>
            </a:r>
            <a:endParaRPr lang="en-US" sz="1600" dirty="0"/>
          </a:p>
        </p:txBody>
      </p:sp>
      <p:sp>
        <p:nvSpPr>
          <p:cNvPr id="9" name="Shape 7"/>
          <p:cNvSpPr/>
          <p:nvPr/>
        </p:nvSpPr>
        <p:spPr>
          <a:xfrm>
            <a:off x="548640" y="4343400"/>
            <a:ext cx="11064240" cy="731520"/>
          </a:xfrm>
          <a:prstGeom prst="roundRect">
            <a:avLst>
              <a:gd name="adj" fmla="val 20000"/>
            </a:avLst>
          </a:prstGeom>
          <a:solidFill>
            <a:srgbClr val="F7F4FB"/>
          </a:solidFill>
          <a:ln w="12700">
            <a:solidFill>
              <a:srgbClr val="F7F4FB"/>
            </a:solidFill>
            <a:prstDash val="solid"/>
          </a:ln>
        </p:spPr>
      </p:sp>
      <p:sp>
        <p:nvSpPr>
          <p:cNvPr id="10" name="Text 8"/>
          <p:cNvSpPr txBox="1"/>
          <p:nvPr/>
        </p:nvSpPr>
        <p:spPr>
          <a:xfrm>
            <a:off x="822960" y="4544568"/>
            <a:ext cx="10607040" cy="365760"/>
          </a:xfrm>
          <a:prstGeom prst="rect">
            <a:avLst/>
          </a:prstGeom>
          <a:noFill/>
          <a:ln/>
        </p:spPr>
        <p:txBody>
          <a:bodyPr wrap="square" lIns="0" tIns="0" rIns="0" bIns="0" rtlCol="0" anchor="t"/>
          <a:lstStyle/>
          <a:p>
            <a:pPr indent="0" marL="0">
              <a:buNone/>
            </a:pPr>
            <a:r>
              <a:rPr lang="en-US" sz="1500" b="1" dirty="0">
                <a:solidFill>
                  <a:srgbClr val="1F1A2B"/>
                </a:solidFill>
                <a:latin typeface="Calibri" pitchFamily="34" charset="0"/>
                <a:ea typeface="Calibri" pitchFamily="34" charset="-122"/>
                <a:cs typeface="Calibri" pitchFamily="34" charset="-120"/>
              </a:rPr>
              <a:t>F1 </a:t>
            </a:r>
            <a:pPr indent="0" marL="0">
              <a:buNone/>
            </a:pPr>
            <a:r>
              <a:rPr lang="en-US" sz="1500" dirty="0">
                <a:solidFill>
                  <a:srgbClr val="3A3646"/>
                </a:solidFill>
                <a:latin typeface="Calibri" pitchFamily="34" charset="0"/>
                <a:ea typeface="Calibri" pitchFamily="34" charset="-122"/>
                <a:cs typeface="Calibri" pitchFamily="34" charset="-120"/>
              </a:rPr>
              <a:t>runs from 0 (useless) to 1 (perfect).     </a:t>
            </a:r>
            <a:pPr indent="0" marL="0">
              <a:buNone/>
            </a:pPr>
            <a:r>
              <a:rPr lang="en-US" sz="1500" b="1" dirty="0">
                <a:solidFill>
                  <a:srgbClr val="1F1A2B"/>
                </a:solidFill>
                <a:latin typeface="Calibri" pitchFamily="34" charset="0"/>
                <a:ea typeface="Calibri" pitchFamily="34" charset="-122"/>
                <a:cs typeface="Calibri" pitchFamily="34" charset="-120"/>
              </a:rPr>
              <a:t>F1 per film: </a:t>
            </a:r>
            <a:pPr indent="0" marL="0">
              <a:buNone/>
            </a:pPr>
            <a:r>
              <a:rPr lang="en-US" sz="1500" dirty="0">
                <a:solidFill>
                  <a:srgbClr val="3A3646"/>
                </a:solidFill>
                <a:latin typeface="Calibri" pitchFamily="34" charset="0"/>
                <a:ea typeface="Calibri" pitchFamily="34" charset="-122"/>
                <a:cs typeface="Calibri" pitchFamily="34" charset="-120"/>
              </a:rPr>
              <a:t>0.631     </a:t>
            </a:r>
            <a:pPr indent="0" marL="0">
              <a:buNone/>
            </a:pPr>
            <a:r>
              <a:rPr lang="en-US" sz="1500" b="1" dirty="0">
                <a:solidFill>
                  <a:srgbClr val="1F1A2B"/>
                </a:solidFill>
                <a:latin typeface="Calibri" pitchFamily="34" charset="0"/>
                <a:ea typeface="Calibri" pitchFamily="34" charset="-122"/>
                <a:cs typeface="Calibri" pitchFamily="34" charset="-120"/>
              </a:rPr>
              <a:t>Exact genre set right: </a:t>
            </a:r>
            <a:pPr indent="0" marL="0">
              <a:buNone/>
            </a:pPr>
            <a:r>
              <a:rPr lang="en-US" sz="1500" dirty="0">
                <a:solidFill>
                  <a:srgbClr val="3A3646"/>
                </a:solidFill>
                <a:latin typeface="Calibri" pitchFamily="34" charset="0"/>
                <a:ea typeface="Calibri" pitchFamily="34" charset="-122"/>
                <a:cs typeface="Calibri" pitchFamily="34" charset="-120"/>
              </a:rPr>
              <a:t>17% of films</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Easy genres and hard genres</a:t>
            </a:r>
            <a:endParaRPr lang="en-US" sz="3000" dirty="0"/>
          </a:p>
        </p:txBody>
      </p:sp>
      <p:sp>
        <p:nvSpPr>
          <p:cNvPr id="3" name="Text 1"/>
          <p:cNvSpPr txBox="1"/>
          <p:nvPr/>
        </p:nvSpPr>
        <p:spPr>
          <a:xfrm>
            <a:off x="548640" y="1280160"/>
            <a:ext cx="6675120" cy="320040"/>
          </a:xfrm>
          <a:prstGeom prst="rect">
            <a:avLst/>
          </a:prstGeom>
          <a:noFill/>
          <a:ln/>
        </p:spPr>
        <p:txBody>
          <a:bodyPr wrap="square" lIns="0" tIns="0" rIns="0" bIns="0" rtlCol="0" anchor="t"/>
          <a:lstStyle/>
          <a:p>
            <a:pPr indent="0" marL="0">
              <a:buNone/>
            </a:pPr>
            <a:r>
              <a:rPr lang="en-US" sz="1400" b="1" dirty="0">
                <a:solidFill>
                  <a:srgbClr val="1F1A2B"/>
                </a:solidFill>
                <a:latin typeface="Calibri" pitchFamily="34" charset="0"/>
                <a:ea typeface="Calibri" pitchFamily="34" charset="-122"/>
                <a:cs typeface="Calibri" pitchFamily="34" charset="-120"/>
              </a:rPr>
              <a:t>F1 per genre on the 5,760 test films</a:t>
            </a:r>
            <a:endParaRPr lang="en-US" sz="1400" dirty="0"/>
          </a:p>
        </p:txBody>
      </p:sp>
      <p:graphicFrame>
        <p:nvGraphicFramePr>
          <p:cNvPr id="4" name="Chart 0" descr="Bar chart of test F1 for each genre next to the F1 of tagging every film with that genre. Drama, Horror and Western score highest; Musical, Mystery and Fantasy lowest."/>
          <p:cNvGraphicFramePr/>
          <p:nvPr/>
        </p:nvGraphicFramePr>
        <p:xfrm>
          <a:off x="411480" y="1600200"/>
          <a:ext cx="6949440" cy="4892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26680" y="1463040"/>
            <a:ext cx="3931920" cy="1371600"/>
          </a:xfrm>
          <a:prstGeom prst="roundRect">
            <a:avLst>
              <a:gd name="adj" fmla="val 10667"/>
            </a:avLst>
          </a:prstGeom>
          <a:solidFill>
            <a:srgbClr val="F1ECF8"/>
          </a:solidFill>
          <a:ln w="12700">
            <a:solidFill>
              <a:srgbClr val="F1ECF8"/>
            </a:solidFill>
            <a:prstDash val="solid"/>
          </a:ln>
        </p:spPr>
      </p:sp>
      <p:sp>
        <p:nvSpPr>
          <p:cNvPr id="6" name="Text 3"/>
          <p:cNvSpPr txBox="1"/>
          <p:nvPr/>
        </p:nvSpPr>
        <p:spPr>
          <a:xfrm>
            <a:off x="7955280" y="1627632"/>
            <a:ext cx="3566160" cy="365760"/>
          </a:xfrm>
          <a:prstGeom prst="rect">
            <a:avLst/>
          </a:prstGeom>
          <a:noFill/>
          <a:ln/>
        </p:spPr>
        <p:txBody>
          <a:bodyPr wrap="square" lIns="0" tIns="0" rIns="0" bIns="0" rtlCol="0" anchor="t"/>
          <a:lstStyle/>
          <a:p>
            <a:pPr indent="0" marL="0">
              <a:buNone/>
            </a:pPr>
            <a:r>
              <a:rPr lang="en-US" sz="1700" b="1" dirty="0">
                <a:solidFill>
                  <a:srgbClr val="1F1A2B"/>
                </a:solidFill>
                <a:latin typeface="Calibri" pitchFamily="34" charset="0"/>
                <a:ea typeface="Calibri" pitchFamily="34" charset="-122"/>
                <a:cs typeface="Calibri" pitchFamily="34" charset="-120"/>
              </a:rPr>
              <a:t>Western  </a:t>
            </a:r>
            <a:pPr indent="0" marL="0">
              <a:buNone/>
            </a:pPr>
            <a:r>
              <a:rPr lang="en-US" sz="1700" b="1" dirty="0">
                <a:solidFill>
                  <a:srgbClr val="6750A4"/>
                </a:solidFill>
                <a:latin typeface="Calibri" pitchFamily="34" charset="0"/>
                <a:ea typeface="Calibri" pitchFamily="34" charset="-122"/>
                <a:cs typeface="Calibri" pitchFamily="34" charset="-120"/>
              </a:rPr>
              <a:t>F1 0.75 vs 0.05</a:t>
            </a:r>
            <a:endParaRPr lang="en-US" sz="1700" dirty="0"/>
          </a:p>
        </p:txBody>
      </p:sp>
      <p:sp>
        <p:nvSpPr>
          <p:cNvPr id="7" name="Text 4"/>
          <p:cNvSpPr txBox="1"/>
          <p:nvPr/>
        </p:nvSpPr>
        <p:spPr>
          <a:xfrm>
            <a:off x="7955280" y="2039112"/>
            <a:ext cx="3566160" cy="731520"/>
          </a:xfrm>
          <a:prstGeom prst="rect">
            <a:avLst/>
          </a:prstGeom>
          <a:noFill/>
          <a:ln/>
        </p:spPr>
        <p:txBody>
          <a:bodyPr wrap="square" lIns="0" tIns="0" rIns="0" bIns="0" rtlCol="0" anchor="t"/>
          <a:lstStyle/>
          <a:p>
            <a:pPr indent="0" marL="0">
              <a:buNone/>
            </a:pPr>
            <a:r>
              <a:rPr lang="en-US" sz="1400" dirty="0">
                <a:solidFill>
                  <a:srgbClr val="3A3646"/>
                </a:solidFill>
                <a:latin typeface="Calibri" pitchFamily="34" charset="0"/>
                <a:ea typeface="Calibri" pitchFamily="34" charset="-122"/>
                <a:cs typeface="Calibri" pitchFamily="34" charset="-120"/>
              </a:rPr>
              <a:t>Cowboys are easy to spot:</a:t>
            </a:r>
            <a:endParaRPr lang="en-US" sz="1400" dirty="0"/>
          </a:p>
          <a:p>
            <a:pPr indent="0" marL="0">
              <a:buNone/>
            </a:pPr>
            <a:r>
              <a:rPr lang="en-US" sz="1400" dirty="0">
                <a:solidFill>
                  <a:srgbClr val="3A3646"/>
                </a:solidFill>
                <a:latin typeface="Calibri" pitchFamily="34" charset="0"/>
                <a:ea typeface="Calibri" pitchFamily="34" charset="-122"/>
                <a:cs typeface="Calibri" pitchFamily="34" charset="-120"/>
              </a:rPr>
              <a:t>ranch, outlaw, cattle, saloon.</a:t>
            </a:r>
            <a:endParaRPr lang="en-US" sz="1400" dirty="0"/>
          </a:p>
        </p:txBody>
      </p:sp>
      <p:sp>
        <p:nvSpPr>
          <p:cNvPr id="8" name="Shape 5"/>
          <p:cNvSpPr/>
          <p:nvPr/>
        </p:nvSpPr>
        <p:spPr>
          <a:xfrm>
            <a:off x="7726680" y="3063240"/>
            <a:ext cx="3931920" cy="1371600"/>
          </a:xfrm>
          <a:prstGeom prst="roundRect">
            <a:avLst>
              <a:gd name="adj" fmla="val 10667"/>
            </a:avLst>
          </a:prstGeom>
          <a:solidFill>
            <a:srgbClr val="F1ECF8"/>
          </a:solidFill>
          <a:ln w="12700">
            <a:solidFill>
              <a:srgbClr val="F1ECF8"/>
            </a:solidFill>
            <a:prstDash val="solid"/>
          </a:ln>
        </p:spPr>
      </p:sp>
      <p:sp>
        <p:nvSpPr>
          <p:cNvPr id="9" name="Text 6"/>
          <p:cNvSpPr txBox="1"/>
          <p:nvPr/>
        </p:nvSpPr>
        <p:spPr>
          <a:xfrm>
            <a:off x="7955280" y="3227832"/>
            <a:ext cx="3566160" cy="365760"/>
          </a:xfrm>
          <a:prstGeom prst="rect">
            <a:avLst/>
          </a:prstGeom>
          <a:noFill/>
          <a:ln/>
        </p:spPr>
        <p:txBody>
          <a:bodyPr wrap="square" lIns="0" tIns="0" rIns="0" bIns="0" rtlCol="0" anchor="t"/>
          <a:lstStyle/>
          <a:p>
            <a:pPr indent="0" marL="0">
              <a:buNone/>
            </a:pPr>
            <a:r>
              <a:rPr lang="en-US" sz="1700" b="1" dirty="0">
                <a:solidFill>
                  <a:srgbClr val="1F1A2B"/>
                </a:solidFill>
                <a:latin typeface="Calibri" pitchFamily="34" charset="0"/>
                <a:ea typeface="Calibri" pitchFamily="34" charset="-122"/>
                <a:cs typeface="Calibri" pitchFamily="34" charset="-120"/>
              </a:rPr>
              <a:t>Drama  </a:t>
            </a:r>
            <a:pPr indent="0" marL="0">
              <a:buNone/>
            </a:pPr>
            <a:r>
              <a:rPr lang="en-US" sz="1700" b="1" dirty="0">
                <a:solidFill>
                  <a:srgbClr val="6750A4"/>
                </a:solidFill>
                <a:latin typeface="Calibri" pitchFamily="34" charset="0"/>
                <a:ea typeface="Calibri" pitchFamily="34" charset="-122"/>
                <a:cs typeface="Calibri" pitchFamily="34" charset="-120"/>
              </a:rPr>
              <a:t>0.78, but 0.69 for free</a:t>
            </a:r>
            <a:endParaRPr lang="en-US" sz="1700" dirty="0"/>
          </a:p>
        </p:txBody>
      </p:sp>
      <p:sp>
        <p:nvSpPr>
          <p:cNvPr id="10" name="Text 7"/>
          <p:cNvSpPr txBox="1"/>
          <p:nvPr/>
        </p:nvSpPr>
        <p:spPr>
          <a:xfrm>
            <a:off x="7955280" y="3639312"/>
            <a:ext cx="3566160" cy="731520"/>
          </a:xfrm>
          <a:prstGeom prst="rect">
            <a:avLst/>
          </a:prstGeom>
          <a:noFill/>
          <a:ln/>
        </p:spPr>
        <p:txBody>
          <a:bodyPr wrap="square" lIns="0" tIns="0" rIns="0" bIns="0" rtlCol="0" anchor="t"/>
          <a:lstStyle/>
          <a:p>
            <a:pPr indent="0" marL="0">
              <a:buNone/>
            </a:pPr>
            <a:r>
              <a:rPr lang="en-US" sz="1400" dirty="0">
                <a:solidFill>
                  <a:srgbClr val="3A3646"/>
                </a:solidFill>
                <a:latin typeface="Calibri" pitchFamily="34" charset="0"/>
                <a:ea typeface="Calibri" pitchFamily="34" charset="-122"/>
                <a:cs typeface="Calibri" pitchFamily="34" charset="-120"/>
              </a:rPr>
              <a:t>Half the films are dramas, so the baseline is already high.</a:t>
            </a:r>
            <a:endParaRPr lang="en-US" sz="1400" dirty="0"/>
          </a:p>
        </p:txBody>
      </p:sp>
      <p:sp>
        <p:nvSpPr>
          <p:cNvPr id="11" name="Shape 8"/>
          <p:cNvSpPr/>
          <p:nvPr/>
        </p:nvSpPr>
        <p:spPr>
          <a:xfrm>
            <a:off x="7726680" y="4663440"/>
            <a:ext cx="3931920" cy="1371600"/>
          </a:xfrm>
          <a:prstGeom prst="roundRect">
            <a:avLst>
              <a:gd name="adj" fmla="val 10667"/>
            </a:avLst>
          </a:prstGeom>
          <a:solidFill>
            <a:srgbClr val="F1ECF8"/>
          </a:solidFill>
          <a:ln w="12700">
            <a:solidFill>
              <a:srgbClr val="F1ECF8"/>
            </a:solidFill>
            <a:prstDash val="solid"/>
          </a:ln>
        </p:spPr>
      </p:sp>
      <p:sp>
        <p:nvSpPr>
          <p:cNvPr id="12" name="Text 9"/>
          <p:cNvSpPr txBox="1"/>
          <p:nvPr/>
        </p:nvSpPr>
        <p:spPr>
          <a:xfrm>
            <a:off x="7955280" y="4828032"/>
            <a:ext cx="3566160" cy="365760"/>
          </a:xfrm>
          <a:prstGeom prst="rect">
            <a:avLst/>
          </a:prstGeom>
          <a:noFill/>
          <a:ln/>
        </p:spPr>
        <p:txBody>
          <a:bodyPr wrap="square" lIns="0" tIns="0" rIns="0" bIns="0" rtlCol="0" anchor="t"/>
          <a:lstStyle/>
          <a:p>
            <a:pPr indent="0" marL="0">
              <a:buNone/>
            </a:pPr>
            <a:r>
              <a:rPr lang="en-US" sz="1700" b="1" dirty="0">
                <a:solidFill>
                  <a:srgbClr val="1F1A2B"/>
                </a:solidFill>
                <a:latin typeface="Calibri" pitchFamily="34" charset="0"/>
                <a:ea typeface="Calibri" pitchFamily="34" charset="-122"/>
                <a:cs typeface="Calibri" pitchFamily="34" charset="-120"/>
              </a:rPr>
              <a:t>Musical  </a:t>
            </a:r>
            <a:pPr indent="0" marL="0">
              <a:buNone/>
            </a:pPr>
            <a:r>
              <a:rPr lang="en-US" sz="1700" b="1" dirty="0">
                <a:solidFill>
                  <a:srgbClr val="6750A4"/>
                </a:solidFill>
                <a:latin typeface="Calibri" pitchFamily="34" charset="0"/>
                <a:ea typeface="Calibri" pitchFamily="34" charset="-122"/>
                <a:cs typeface="Calibri" pitchFamily="34" charset="-120"/>
              </a:rPr>
              <a:t>F1 0.38</a:t>
            </a:r>
            <a:endParaRPr lang="en-US" sz="1700" dirty="0"/>
          </a:p>
        </p:txBody>
      </p:sp>
      <p:sp>
        <p:nvSpPr>
          <p:cNvPr id="13" name="Text 10"/>
          <p:cNvSpPr txBox="1"/>
          <p:nvPr/>
        </p:nvSpPr>
        <p:spPr>
          <a:xfrm>
            <a:off x="7955280" y="5239512"/>
            <a:ext cx="3566160" cy="731520"/>
          </a:xfrm>
          <a:prstGeom prst="rect">
            <a:avLst/>
          </a:prstGeom>
          <a:noFill/>
          <a:ln/>
        </p:spPr>
        <p:txBody>
          <a:bodyPr wrap="square" lIns="0" tIns="0" rIns="0" bIns="0" rtlCol="0" anchor="t"/>
          <a:lstStyle/>
          <a:p>
            <a:pPr indent="0" marL="0">
              <a:buNone/>
            </a:pPr>
            <a:r>
              <a:rPr lang="en-US" sz="1400" dirty="0">
                <a:solidFill>
                  <a:srgbClr val="3A3646"/>
                </a:solidFill>
                <a:latin typeface="Calibri" pitchFamily="34" charset="0"/>
                <a:ea typeface="Calibri" pitchFamily="34" charset="-122"/>
                <a:cs typeface="Calibri" pitchFamily="34" charset="-120"/>
              </a:rPr>
              <a:t>69% of Bollywood films are tagged Musical, but only 7% of other Indian films. Indian names push the model to Musical for both.</a:t>
            </a:r>
            <a:endParaRPr lang="en-US" sz="14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Per-genre thresholds helped a little</a:t>
            </a:r>
            <a:endParaRPr lang="en-US" sz="3000" dirty="0"/>
          </a:p>
        </p:txBody>
      </p:sp>
      <p:sp>
        <p:nvSpPr>
          <p:cNvPr id="3" name="Text 1"/>
          <p:cNvSpPr txBox="1"/>
          <p:nvPr/>
        </p:nvSpPr>
        <p:spPr>
          <a:xfrm>
            <a:off x="548640" y="1280160"/>
            <a:ext cx="6675120" cy="320040"/>
          </a:xfrm>
          <a:prstGeom prst="rect">
            <a:avLst/>
          </a:prstGeom>
          <a:noFill/>
          <a:ln/>
        </p:spPr>
        <p:txBody>
          <a:bodyPr wrap="square" lIns="0" tIns="0" rIns="0" bIns="0" rtlCol="0" anchor="t"/>
          <a:lstStyle/>
          <a:p>
            <a:pPr indent="0" marL="0">
              <a:buNone/>
            </a:pPr>
            <a:r>
              <a:rPr lang="en-US" sz="1400" b="1" dirty="0">
                <a:solidFill>
                  <a:srgbClr val="1F1A2B"/>
                </a:solidFill>
                <a:latin typeface="Calibri" pitchFamily="34" charset="0"/>
                <a:ea typeface="Calibri" pitchFamily="34" charset="-122"/>
                <a:cs typeface="Calibri" pitchFamily="34" charset="-120"/>
              </a:rPr>
              <a:t>Test F1 with the tuned threshold, minus test F1 at 0.5</a:t>
            </a:r>
            <a:endParaRPr lang="en-US" sz="1400" dirty="0"/>
          </a:p>
        </p:txBody>
      </p:sp>
      <p:graphicFrame>
        <p:nvGraphicFramePr>
          <p:cNvPr id="4" name="Chart 0" descr="Bar chart of the change in test F1 from tuning each genre's threshold. Nine genres gain, led by Western and Family; five lose a little, Fantasy the most."/>
          <p:cNvGraphicFramePr/>
          <p:nvPr/>
        </p:nvGraphicFramePr>
        <p:xfrm>
          <a:off x="411480" y="1600200"/>
          <a:ext cx="6858000" cy="4892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26680" y="1490472"/>
            <a:ext cx="237744" cy="237744"/>
          </a:xfrm>
          <a:prstGeom prst="ellipse">
            <a:avLst/>
          </a:prstGeom>
          <a:solidFill>
            <a:srgbClr val="6750A4"/>
          </a:solidFill>
          <a:ln w="12700">
            <a:solidFill>
              <a:srgbClr val="6750A4"/>
            </a:solidFill>
            <a:prstDash val="solid"/>
          </a:ln>
        </p:spPr>
      </p:sp>
      <p:sp>
        <p:nvSpPr>
          <p:cNvPr id="6" name="Text 3"/>
          <p:cNvSpPr txBox="1"/>
          <p:nvPr/>
        </p:nvSpPr>
        <p:spPr>
          <a:xfrm>
            <a:off x="8138160" y="1417320"/>
            <a:ext cx="3566160" cy="384048"/>
          </a:xfrm>
          <a:prstGeom prst="rect">
            <a:avLst/>
          </a:prstGeom>
          <a:noFill/>
          <a:ln/>
        </p:spPr>
        <p:txBody>
          <a:bodyPr wrap="square" lIns="0" tIns="0" rIns="0" bIns="0" rtlCol="0" anchor="t"/>
          <a:lstStyle/>
          <a:p>
            <a:pPr indent="0" marL="0">
              <a:buNone/>
            </a:pPr>
            <a:r>
              <a:rPr lang="en-US" sz="1800" b="1" dirty="0">
                <a:solidFill>
                  <a:srgbClr val="1F1A2B"/>
                </a:solidFill>
                <a:latin typeface="Calibri" pitchFamily="34" charset="0"/>
                <a:ea typeface="Calibri" pitchFamily="34" charset="-122"/>
                <a:cs typeface="Calibri" pitchFamily="34" charset="-120"/>
              </a:rPr>
              <a:t>9 genres better</a:t>
            </a:r>
            <a:endParaRPr lang="en-US" sz="1800" dirty="0"/>
          </a:p>
        </p:txBody>
      </p:sp>
      <p:sp>
        <p:nvSpPr>
          <p:cNvPr id="7" name="Text 4"/>
          <p:cNvSpPr txBox="1"/>
          <p:nvPr/>
        </p:nvSpPr>
        <p:spPr>
          <a:xfrm>
            <a:off x="8138160" y="1819656"/>
            <a:ext cx="3566160" cy="548640"/>
          </a:xfrm>
          <a:prstGeom prst="rect">
            <a:avLst/>
          </a:prstGeom>
          <a:noFill/>
          <a:ln/>
        </p:spPr>
        <p:txBody>
          <a:bodyPr wrap="square" lIns="0" tIns="0" rIns="0" bIns="0" rtlCol="0" anchor="t"/>
          <a:lstStyle/>
          <a:p>
            <a:pPr indent="0" marL="0">
              <a:buNone/>
            </a:pPr>
            <a:r>
              <a:rPr lang="en-US" sz="1400" dirty="0">
                <a:solidFill>
                  <a:srgbClr val="3A3646"/>
                </a:solidFill>
                <a:latin typeface="Calibri" pitchFamily="34" charset="0"/>
                <a:ea typeface="Calibri" pitchFamily="34" charset="-122"/>
                <a:cs typeface="Calibri" pitchFamily="34" charset="-120"/>
              </a:rPr>
              <a:t>Western +0.064 and Family +0.047 gained most.</a:t>
            </a:r>
            <a:endParaRPr lang="en-US" sz="1400" dirty="0"/>
          </a:p>
        </p:txBody>
      </p:sp>
      <p:sp>
        <p:nvSpPr>
          <p:cNvPr id="8" name="Shape 5"/>
          <p:cNvSpPr/>
          <p:nvPr/>
        </p:nvSpPr>
        <p:spPr>
          <a:xfrm>
            <a:off x="7726680" y="2569464"/>
            <a:ext cx="237744" cy="237744"/>
          </a:xfrm>
          <a:prstGeom prst="ellipse">
            <a:avLst/>
          </a:prstGeom>
          <a:solidFill>
            <a:srgbClr val="8C8799"/>
          </a:solidFill>
          <a:ln w="12700">
            <a:solidFill>
              <a:srgbClr val="8C8799"/>
            </a:solidFill>
            <a:prstDash val="solid"/>
          </a:ln>
        </p:spPr>
      </p:sp>
      <p:sp>
        <p:nvSpPr>
          <p:cNvPr id="9" name="Text 6"/>
          <p:cNvSpPr txBox="1"/>
          <p:nvPr/>
        </p:nvSpPr>
        <p:spPr>
          <a:xfrm>
            <a:off x="8138160" y="2496312"/>
            <a:ext cx="3566160" cy="384048"/>
          </a:xfrm>
          <a:prstGeom prst="rect">
            <a:avLst/>
          </a:prstGeom>
          <a:noFill/>
          <a:ln/>
        </p:spPr>
        <p:txBody>
          <a:bodyPr wrap="square" lIns="0" tIns="0" rIns="0" bIns="0" rtlCol="0" anchor="t"/>
          <a:lstStyle/>
          <a:p>
            <a:pPr indent="0" marL="0">
              <a:buNone/>
            </a:pPr>
            <a:r>
              <a:rPr lang="en-US" sz="1800" b="1" dirty="0">
                <a:solidFill>
                  <a:srgbClr val="1F1A2B"/>
                </a:solidFill>
                <a:latin typeface="Calibri" pitchFamily="34" charset="0"/>
                <a:ea typeface="Calibri" pitchFamily="34" charset="-122"/>
                <a:cs typeface="Calibri" pitchFamily="34" charset="-120"/>
              </a:rPr>
              <a:t>1 unchanged</a:t>
            </a:r>
            <a:endParaRPr lang="en-US" sz="1800" dirty="0"/>
          </a:p>
        </p:txBody>
      </p:sp>
      <p:sp>
        <p:nvSpPr>
          <p:cNvPr id="10" name="Text 7"/>
          <p:cNvSpPr txBox="1"/>
          <p:nvPr/>
        </p:nvSpPr>
        <p:spPr>
          <a:xfrm>
            <a:off x="8138160" y="2898648"/>
            <a:ext cx="3566160" cy="548640"/>
          </a:xfrm>
          <a:prstGeom prst="rect">
            <a:avLst/>
          </a:prstGeom>
          <a:noFill/>
          <a:ln/>
        </p:spPr>
        <p:txBody>
          <a:bodyPr wrap="square" lIns="0" tIns="0" rIns="0" bIns="0" rtlCol="0" anchor="t"/>
          <a:lstStyle/>
          <a:p>
            <a:pPr indent="0" marL="0">
              <a:buNone/>
            </a:pPr>
            <a:r>
              <a:rPr lang="en-US" sz="1400" dirty="0">
                <a:solidFill>
                  <a:srgbClr val="3A3646"/>
                </a:solidFill>
                <a:latin typeface="Calibri" pitchFamily="34" charset="0"/>
                <a:ea typeface="Calibri" pitchFamily="34" charset="-122"/>
                <a:cs typeface="Calibri" pitchFamily="34" charset="-120"/>
              </a:rPr>
              <a:t>Thriller’s tuned threshold is exactly 0.50.</a:t>
            </a:r>
            <a:endParaRPr lang="en-US" sz="1400" dirty="0"/>
          </a:p>
        </p:txBody>
      </p:sp>
      <p:sp>
        <p:nvSpPr>
          <p:cNvPr id="11" name="Shape 8"/>
          <p:cNvSpPr/>
          <p:nvPr/>
        </p:nvSpPr>
        <p:spPr>
          <a:xfrm>
            <a:off x="7726680" y="3648456"/>
            <a:ext cx="237744" cy="237744"/>
          </a:xfrm>
          <a:prstGeom prst="ellipse">
            <a:avLst/>
          </a:prstGeom>
          <a:solidFill>
            <a:srgbClr val="C9772B"/>
          </a:solidFill>
          <a:ln w="12700">
            <a:solidFill>
              <a:srgbClr val="C9772B"/>
            </a:solidFill>
            <a:prstDash val="solid"/>
          </a:ln>
        </p:spPr>
      </p:sp>
      <p:sp>
        <p:nvSpPr>
          <p:cNvPr id="12" name="Text 9"/>
          <p:cNvSpPr txBox="1"/>
          <p:nvPr/>
        </p:nvSpPr>
        <p:spPr>
          <a:xfrm>
            <a:off x="8138160" y="3575304"/>
            <a:ext cx="3566160" cy="384048"/>
          </a:xfrm>
          <a:prstGeom prst="rect">
            <a:avLst/>
          </a:prstGeom>
          <a:noFill/>
          <a:ln/>
        </p:spPr>
        <p:txBody>
          <a:bodyPr wrap="square" lIns="0" tIns="0" rIns="0" bIns="0" rtlCol="0" anchor="t"/>
          <a:lstStyle/>
          <a:p>
            <a:pPr indent="0" marL="0">
              <a:buNone/>
            </a:pPr>
            <a:r>
              <a:rPr lang="en-US" sz="1800" b="1" dirty="0">
                <a:solidFill>
                  <a:srgbClr val="1F1A2B"/>
                </a:solidFill>
                <a:latin typeface="Calibri" pitchFamily="34" charset="0"/>
                <a:ea typeface="Calibri" pitchFamily="34" charset="-122"/>
                <a:cs typeface="Calibri" pitchFamily="34" charset="-120"/>
              </a:rPr>
              <a:t>5 genres worse</a:t>
            </a:r>
            <a:endParaRPr lang="en-US" sz="1800" dirty="0"/>
          </a:p>
        </p:txBody>
      </p:sp>
      <p:sp>
        <p:nvSpPr>
          <p:cNvPr id="13" name="Text 10"/>
          <p:cNvSpPr txBox="1"/>
          <p:nvPr/>
        </p:nvSpPr>
        <p:spPr>
          <a:xfrm>
            <a:off x="8138160" y="3977640"/>
            <a:ext cx="3566160" cy="548640"/>
          </a:xfrm>
          <a:prstGeom prst="rect">
            <a:avLst/>
          </a:prstGeom>
          <a:noFill/>
          <a:ln/>
        </p:spPr>
        <p:txBody>
          <a:bodyPr wrap="square" lIns="0" tIns="0" rIns="0" bIns="0" rtlCol="0" anchor="t"/>
          <a:lstStyle/>
          <a:p>
            <a:pPr indent="0" marL="0">
              <a:buNone/>
            </a:pPr>
            <a:r>
              <a:rPr lang="en-US" sz="1400" dirty="0">
                <a:solidFill>
                  <a:srgbClr val="3A3646"/>
                </a:solidFill>
                <a:latin typeface="Calibri" pitchFamily="34" charset="0"/>
                <a:ea typeface="Calibri" pitchFamily="34" charset="-122"/>
                <a:cs typeface="Calibri" pitchFamily="34" charset="-120"/>
              </a:rPr>
              <a:t>Fantasy lost 0.026.</a:t>
            </a:r>
            <a:endParaRPr lang="en-US" sz="1400" dirty="0"/>
          </a:p>
          <a:p>
            <a:pPr indent="0" marL="0">
              <a:buNone/>
            </a:pPr>
            <a:r>
              <a:rPr lang="en-US" sz="1400" dirty="0">
                <a:solidFill>
                  <a:srgbClr val="3A3646"/>
                </a:solidFill>
                <a:latin typeface="Calibri" pitchFamily="34" charset="0"/>
                <a:ea typeface="Calibri" pitchFamily="34" charset="-122"/>
                <a:cs typeface="Calibri" pitchFamily="34" charset="-120"/>
              </a:rPr>
              <a:t>The other four lost 0.006 or less.</a:t>
            </a:r>
            <a:endParaRPr lang="en-US" sz="1400" dirty="0"/>
          </a:p>
        </p:txBody>
      </p:sp>
      <p:sp>
        <p:nvSpPr>
          <p:cNvPr id="14" name="Shape 11"/>
          <p:cNvSpPr/>
          <p:nvPr/>
        </p:nvSpPr>
        <p:spPr>
          <a:xfrm>
            <a:off x="7726680" y="4709160"/>
            <a:ext cx="3931920" cy="1371600"/>
          </a:xfrm>
          <a:prstGeom prst="roundRect">
            <a:avLst>
              <a:gd name="adj" fmla="val 10667"/>
            </a:avLst>
          </a:prstGeom>
          <a:solidFill>
            <a:srgbClr val="F1ECF8"/>
          </a:solidFill>
          <a:ln w="12700">
            <a:solidFill>
              <a:srgbClr val="F1ECF8"/>
            </a:solidFill>
            <a:prstDash val="solid"/>
          </a:ln>
        </p:spPr>
      </p:sp>
      <p:sp>
        <p:nvSpPr>
          <p:cNvPr id="15" name="Text 12"/>
          <p:cNvSpPr txBox="1"/>
          <p:nvPr/>
        </p:nvSpPr>
        <p:spPr>
          <a:xfrm>
            <a:off x="7955280" y="4709160"/>
            <a:ext cx="3520440" cy="1371600"/>
          </a:xfrm>
          <a:prstGeom prst="rect">
            <a:avLst/>
          </a:prstGeom>
          <a:noFill/>
          <a:ln/>
        </p:spPr>
        <p:txBody>
          <a:bodyPr wrap="square" lIns="0" tIns="0" rIns="0" bIns="0" rtlCol="0" anchor="ctr"/>
          <a:lstStyle/>
          <a:p>
            <a:pPr indent="0" marL="0">
              <a:buNone/>
            </a:pPr>
            <a:r>
              <a:rPr lang="en-US" sz="1400" b="1" dirty="0">
                <a:solidFill>
                  <a:srgbClr val="1F1A2B"/>
                </a:solidFill>
                <a:latin typeface="Calibri" pitchFamily="34" charset="0"/>
                <a:ea typeface="Calibri" pitchFamily="34" charset="-122"/>
                <a:cs typeface="Calibri" pitchFamily="34" charset="-120"/>
              </a:rPr>
              <a:t>Macro-F1 0.588 → 0.598</a:t>
            </a:r>
            <a:endParaRPr lang="en-US" sz="1400" dirty="0"/>
          </a:p>
          <a:p>
            <a:pPr indent="0" marL="0">
              <a:buNone/>
            </a:pPr>
            <a:r>
              <a:rPr lang="en-US" sz="1400" dirty="0">
                <a:solidFill>
                  <a:srgbClr val="3A3646"/>
                </a:solidFill>
                <a:latin typeface="Calibri" pitchFamily="34" charset="0"/>
                <a:ea typeface="Calibri" pitchFamily="34" charset="-122"/>
                <a:cs typeface="Calibri" pitchFamily="34" charset="-120"/>
              </a:rPr>
              <a:t>Small, but above zero in all 1,000 bootstrap resamples of the test films.</a:t>
            </a:r>
            <a:endParaRPr lang="en-US" sz="14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What it actually learned</a:t>
            </a:r>
            <a:endParaRPr lang="en-US" sz="3000" dirty="0"/>
          </a:p>
        </p:txBody>
      </p:sp>
      <p:sp>
        <p:nvSpPr>
          <p:cNvPr id="3" name="Text 1"/>
          <p:cNvSpPr txBox="1"/>
          <p:nvPr/>
        </p:nvSpPr>
        <p:spPr>
          <a:xfrm>
            <a:off x="548640" y="1325880"/>
            <a:ext cx="5303520" cy="365760"/>
          </a:xfrm>
          <a:prstGeom prst="rect">
            <a:avLst/>
          </a:prstGeom>
          <a:noFill/>
          <a:ln/>
        </p:spPr>
        <p:txBody>
          <a:bodyPr wrap="square" lIns="0" tIns="0" rIns="0" bIns="0" rtlCol="0" anchor="t"/>
          <a:lstStyle/>
          <a:p>
            <a:pPr indent="0" marL="0">
              <a:buNone/>
            </a:pPr>
            <a:r>
              <a:rPr lang="en-US" sz="1800" b="1" dirty="0">
                <a:solidFill>
                  <a:srgbClr val="1F1A2B"/>
                </a:solidFill>
                <a:latin typeface="Calibri" pitchFamily="34" charset="0"/>
                <a:ea typeface="Calibri" pitchFamily="34" charset="-122"/>
                <a:cs typeface="Calibri" pitchFamily="34" charset="-120"/>
              </a:rPr>
              <a:t>Makes sense</a:t>
            </a:r>
            <a:endParaRPr lang="en-US" sz="1800" dirty="0"/>
          </a:p>
        </p:txBody>
      </p:sp>
      <p:sp>
        <p:nvSpPr>
          <p:cNvPr id="4" name="Text 2"/>
          <p:cNvSpPr txBox="1"/>
          <p:nvPr/>
        </p:nvSpPr>
        <p:spPr>
          <a:xfrm>
            <a:off x="548640" y="1828800"/>
            <a:ext cx="1143000" cy="438912"/>
          </a:xfrm>
          <a:prstGeom prst="rect">
            <a:avLst/>
          </a:prstGeom>
          <a:noFill/>
          <a:ln/>
        </p:spPr>
        <p:txBody>
          <a:bodyPr wrap="square" lIns="0" tIns="0" rIns="0" bIns="0" rtlCol="0" anchor="ctr"/>
          <a:lstStyle/>
          <a:p>
            <a:pPr indent="0" marL="0">
              <a:buNone/>
            </a:pPr>
            <a:r>
              <a:rPr lang="en-US" sz="1500" b="1" dirty="0">
                <a:solidFill>
                  <a:srgbClr val="68548E"/>
                </a:solidFill>
                <a:latin typeface="Calibri" pitchFamily="34" charset="0"/>
                <a:ea typeface="Calibri" pitchFamily="34" charset="-122"/>
                <a:cs typeface="Calibri" pitchFamily="34" charset="-120"/>
              </a:rPr>
              <a:t>Western</a:t>
            </a:r>
            <a:endParaRPr lang="en-US" sz="1500" dirty="0"/>
          </a:p>
        </p:txBody>
      </p:sp>
      <p:sp>
        <p:nvSpPr>
          <p:cNvPr id="5" name="Text 3"/>
          <p:cNvSpPr txBox="1"/>
          <p:nvPr/>
        </p:nvSpPr>
        <p:spPr>
          <a:xfrm>
            <a:off x="1737360" y="1828800"/>
            <a:ext cx="707746"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ranch</a:t>
            </a:r>
            <a:endParaRPr lang="en-US" sz="1400" dirty="0"/>
          </a:p>
        </p:txBody>
      </p:sp>
      <p:sp>
        <p:nvSpPr>
          <p:cNvPr id="6" name="Text 4"/>
          <p:cNvSpPr txBox="1"/>
          <p:nvPr/>
        </p:nvSpPr>
        <p:spPr>
          <a:xfrm>
            <a:off x="2573122" y="1828800"/>
            <a:ext cx="812719"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outlaw</a:t>
            </a:r>
            <a:endParaRPr lang="en-US" sz="1400" dirty="0"/>
          </a:p>
        </p:txBody>
      </p:sp>
      <p:sp>
        <p:nvSpPr>
          <p:cNvPr id="7" name="Text 5"/>
          <p:cNvSpPr txBox="1"/>
          <p:nvPr/>
        </p:nvSpPr>
        <p:spPr>
          <a:xfrm>
            <a:off x="3513856" y="1828800"/>
            <a:ext cx="812719"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cattle</a:t>
            </a:r>
            <a:endParaRPr lang="en-US" sz="1400" dirty="0"/>
          </a:p>
        </p:txBody>
      </p:sp>
      <p:sp>
        <p:nvSpPr>
          <p:cNvPr id="8" name="Text 6"/>
          <p:cNvSpPr txBox="1"/>
          <p:nvPr/>
        </p:nvSpPr>
        <p:spPr>
          <a:xfrm>
            <a:off x="4454591" y="1828800"/>
            <a:ext cx="812719"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saloon</a:t>
            </a:r>
            <a:endParaRPr lang="en-US" sz="1400" dirty="0"/>
          </a:p>
        </p:txBody>
      </p:sp>
      <p:sp>
        <p:nvSpPr>
          <p:cNvPr id="9" name="Text 7"/>
          <p:cNvSpPr txBox="1"/>
          <p:nvPr/>
        </p:nvSpPr>
        <p:spPr>
          <a:xfrm>
            <a:off x="548640" y="2788920"/>
            <a:ext cx="1143000" cy="438912"/>
          </a:xfrm>
          <a:prstGeom prst="rect">
            <a:avLst/>
          </a:prstGeom>
          <a:noFill/>
          <a:ln/>
        </p:spPr>
        <p:txBody>
          <a:bodyPr wrap="square" lIns="0" tIns="0" rIns="0" bIns="0" rtlCol="0" anchor="ctr"/>
          <a:lstStyle/>
          <a:p>
            <a:pPr indent="0" marL="0">
              <a:buNone/>
            </a:pPr>
            <a:r>
              <a:rPr lang="en-US" sz="1500" b="1" dirty="0">
                <a:solidFill>
                  <a:srgbClr val="68548E"/>
                </a:solidFill>
                <a:latin typeface="Calibri" pitchFamily="34" charset="0"/>
                <a:ea typeface="Calibri" pitchFamily="34" charset="-122"/>
                <a:cs typeface="Calibri" pitchFamily="34" charset="-120"/>
              </a:rPr>
              <a:t>War</a:t>
            </a:r>
            <a:endParaRPr lang="en-US" sz="1500" dirty="0"/>
          </a:p>
        </p:txBody>
      </p:sp>
      <p:sp>
        <p:nvSpPr>
          <p:cNvPr id="10" name="Text 8"/>
          <p:cNvSpPr txBox="1"/>
          <p:nvPr/>
        </p:nvSpPr>
        <p:spPr>
          <a:xfrm>
            <a:off x="1737360" y="2788920"/>
            <a:ext cx="640080"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war</a:t>
            </a:r>
            <a:endParaRPr lang="en-US" sz="1400" dirty="0"/>
          </a:p>
        </p:txBody>
      </p:sp>
      <p:sp>
        <p:nvSpPr>
          <p:cNvPr id="11" name="Text 9"/>
          <p:cNvSpPr txBox="1"/>
          <p:nvPr/>
        </p:nvSpPr>
        <p:spPr>
          <a:xfrm>
            <a:off x="2505456" y="2788920"/>
            <a:ext cx="1022665"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soldiers</a:t>
            </a:r>
            <a:endParaRPr lang="en-US" sz="1400" dirty="0"/>
          </a:p>
        </p:txBody>
      </p:sp>
      <p:sp>
        <p:nvSpPr>
          <p:cNvPr id="12" name="Text 10"/>
          <p:cNvSpPr txBox="1"/>
          <p:nvPr/>
        </p:nvSpPr>
        <p:spPr>
          <a:xfrm>
            <a:off x="3656137" y="2788920"/>
            <a:ext cx="640080"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army</a:t>
            </a:r>
            <a:endParaRPr lang="en-US" sz="1400" dirty="0"/>
          </a:p>
        </p:txBody>
      </p:sp>
      <p:sp>
        <p:nvSpPr>
          <p:cNvPr id="13" name="Text 11"/>
          <p:cNvSpPr txBox="1"/>
          <p:nvPr/>
        </p:nvSpPr>
        <p:spPr>
          <a:xfrm>
            <a:off x="4424233" y="2788920"/>
            <a:ext cx="640080"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nazi</a:t>
            </a:r>
            <a:endParaRPr lang="en-US" sz="1400" dirty="0"/>
          </a:p>
        </p:txBody>
      </p:sp>
      <p:sp>
        <p:nvSpPr>
          <p:cNvPr id="14" name="Text 12"/>
          <p:cNvSpPr txBox="1"/>
          <p:nvPr/>
        </p:nvSpPr>
        <p:spPr>
          <a:xfrm>
            <a:off x="548640" y="3749040"/>
            <a:ext cx="1143000" cy="438912"/>
          </a:xfrm>
          <a:prstGeom prst="rect">
            <a:avLst/>
          </a:prstGeom>
          <a:noFill/>
          <a:ln/>
        </p:spPr>
        <p:txBody>
          <a:bodyPr wrap="square" lIns="0" tIns="0" rIns="0" bIns="0" rtlCol="0" anchor="ctr"/>
          <a:lstStyle/>
          <a:p>
            <a:pPr indent="0" marL="0">
              <a:buNone/>
            </a:pPr>
            <a:r>
              <a:rPr lang="en-US" sz="1500" b="1" dirty="0">
                <a:solidFill>
                  <a:srgbClr val="68548E"/>
                </a:solidFill>
                <a:latin typeface="Calibri" pitchFamily="34" charset="0"/>
                <a:ea typeface="Calibri" pitchFamily="34" charset="-122"/>
                <a:cs typeface="Calibri" pitchFamily="34" charset="-120"/>
              </a:rPr>
              <a:t>Horror</a:t>
            </a:r>
            <a:endParaRPr lang="en-US" sz="1500" dirty="0"/>
          </a:p>
        </p:txBody>
      </p:sp>
      <p:sp>
        <p:nvSpPr>
          <p:cNvPr id="15" name="Text 13"/>
          <p:cNvSpPr txBox="1"/>
          <p:nvPr/>
        </p:nvSpPr>
        <p:spPr>
          <a:xfrm>
            <a:off x="1737360" y="3749040"/>
            <a:ext cx="917692"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vampire</a:t>
            </a:r>
            <a:endParaRPr lang="en-US" sz="1400" dirty="0"/>
          </a:p>
        </p:txBody>
      </p:sp>
      <p:sp>
        <p:nvSpPr>
          <p:cNvPr id="16" name="Text 14"/>
          <p:cNvSpPr txBox="1"/>
          <p:nvPr/>
        </p:nvSpPr>
        <p:spPr>
          <a:xfrm>
            <a:off x="2783068" y="3749040"/>
            <a:ext cx="812719"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zombie</a:t>
            </a:r>
            <a:endParaRPr lang="en-US" sz="1400" dirty="0"/>
          </a:p>
        </p:txBody>
      </p:sp>
      <p:sp>
        <p:nvSpPr>
          <p:cNvPr id="17" name="Text 15"/>
          <p:cNvSpPr txBox="1"/>
          <p:nvPr/>
        </p:nvSpPr>
        <p:spPr>
          <a:xfrm>
            <a:off x="3723803" y="3749040"/>
            <a:ext cx="1022665"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werewolf</a:t>
            </a:r>
            <a:endParaRPr lang="en-US" sz="1400" dirty="0"/>
          </a:p>
        </p:txBody>
      </p:sp>
      <p:sp>
        <p:nvSpPr>
          <p:cNvPr id="18" name="Text 16"/>
          <p:cNvSpPr txBox="1"/>
          <p:nvPr/>
        </p:nvSpPr>
        <p:spPr>
          <a:xfrm>
            <a:off x="548640" y="4709160"/>
            <a:ext cx="1143000" cy="438912"/>
          </a:xfrm>
          <a:prstGeom prst="rect">
            <a:avLst/>
          </a:prstGeom>
          <a:noFill/>
          <a:ln/>
        </p:spPr>
        <p:txBody>
          <a:bodyPr wrap="square" lIns="0" tIns="0" rIns="0" bIns="0" rtlCol="0" anchor="ctr"/>
          <a:lstStyle/>
          <a:p>
            <a:pPr indent="0" marL="0">
              <a:buNone/>
            </a:pPr>
            <a:r>
              <a:rPr lang="en-US" sz="1500" b="1" dirty="0">
                <a:solidFill>
                  <a:srgbClr val="68548E"/>
                </a:solidFill>
                <a:latin typeface="Calibri" pitchFamily="34" charset="0"/>
                <a:ea typeface="Calibri" pitchFamily="34" charset="-122"/>
                <a:cs typeface="Calibri" pitchFamily="34" charset="-120"/>
              </a:rPr>
              <a:t>Sci-Fi</a:t>
            </a:r>
            <a:endParaRPr lang="en-US" sz="1500" dirty="0"/>
          </a:p>
        </p:txBody>
      </p:sp>
      <p:sp>
        <p:nvSpPr>
          <p:cNvPr id="19" name="Text 17"/>
          <p:cNvSpPr txBox="1"/>
          <p:nvPr/>
        </p:nvSpPr>
        <p:spPr>
          <a:xfrm>
            <a:off x="1737360" y="4709160"/>
            <a:ext cx="707746"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alien</a:t>
            </a:r>
            <a:endParaRPr lang="en-US" sz="1400" dirty="0"/>
          </a:p>
        </p:txBody>
      </p:sp>
      <p:sp>
        <p:nvSpPr>
          <p:cNvPr id="20" name="Text 18"/>
          <p:cNvSpPr txBox="1"/>
          <p:nvPr/>
        </p:nvSpPr>
        <p:spPr>
          <a:xfrm>
            <a:off x="2573122" y="4709160"/>
            <a:ext cx="812719"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planet</a:t>
            </a:r>
            <a:endParaRPr lang="en-US" sz="1400" dirty="0"/>
          </a:p>
        </p:txBody>
      </p:sp>
      <p:sp>
        <p:nvSpPr>
          <p:cNvPr id="21" name="Text 19"/>
          <p:cNvSpPr txBox="1"/>
          <p:nvPr/>
        </p:nvSpPr>
        <p:spPr>
          <a:xfrm>
            <a:off x="3513856" y="4709160"/>
            <a:ext cx="707746" cy="438912"/>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400" dirty="0">
                <a:solidFill>
                  <a:srgbClr val="4B3D73"/>
                </a:solidFill>
                <a:latin typeface="Calibri" pitchFamily="34" charset="0"/>
                <a:ea typeface="Calibri" pitchFamily="34" charset="-122"/>
                <a:cs typeface="Calibri" pitchFamily="34" charset="-120"/>
              </a:rPr>
              <a:t>robot</a:t>
            </a:r>
            <a:endParaRPr lang="en-US" sz="1400" dirty="0"/>
          </a:p>
        </p:txBody>
      </p:sp>
      <p:sp>
        <p:nvSpPr>
          <p:cNvPr id="22" name="Text 20"/>
          <p:cNvSpPr txBox="1"/>
          <p:nvPr/>
        </p:nvSpPr>
        <p:spPr>
          <a:xfrm>
            <a:off x="6400800" y="1325880"/>
            <a:ext cx="5303520" cy="365760"/>
          </a:xfrm>
          <a:prstGeom prst="rect">
            <a:avLst/>
          </a:prstGeom>
          <a:noFill/>
          <a:ln/>
        </p:spPr>
        <p:txBody>
          <a:bodyPr wrap="square" lIns="0" tIns="0" rIns="0" bIns="0" rtlCol="0" anchor="t"/>
          <a:lstStyle/>
          <a:p>
            <a:pPr indent="0" marL="0">
              <a:buNone/>
            </a:pPr>
            <a:r>
              <a:rPr lang="en-US" sz="1800" b="1" dirty="0">
                <a:solidFill>
                  <a:srgbClr val="1F1A2B"/>
                </a:solidFill>
                <a:latin typeface="Calibri" pitchFamily="34" charset="0"/>
                <a:ea typeface="Calibri" pitchFamily="34" charset="-122"/>
                <a:cs typeface="Calibri" pitchFamily="34" charset="-120"/>
              </a:rPr>
              <a:t>Shortcuts from the data</a:t>
            </a:r>
            <a:endParaRPr lang="en-US" sz="1800" dirty="0"/>
          </a:p>
        </p:txBody>
      </p:sp>
      <p:sp>
        <p:nvSpPr>
          <p:cNvPr id="23" name="Text 21"/>
          <p:cNvSpPr txBox="1"/>
          <p:nvPr/>
        </p:nvSpPr>
        <p:spPr>
          <a:xfrm>
            <a:off x="6400800" y="1828800"/>
            <a:ext cx="707746" cy="438912"/>
          </a:xfrm>
          <a:prstGeom prst="roundRect">
            <a:avLst>
              <a:gd name="adj" fmla="val 50000"/>
            </a:avLst>
          </a:prstGeom>
          <a:solidFill>
            <a:srgbClr val="FBEBDD"/>
          </a:solidFill>
          <a:ln>
            <a:solidFill>
              <a:srgbClr val="FBEBDD"/>
            </a:solidFill>
          </a:ln>
        </p:spPr>
        <p:txBody>
          <a:bodyPr wrap="square" lIns="0" tIns="0" rIns="0" bIns="0" rtlCol="0" anchor="ctr"/>
          <a:lstStyle/>
          <a:p>
            <a:pPr algn="ctr" indent="0" marL="0">
              <a:buNone/>
            </a:pPr>
            <a:r>
              <a:rPr lang="en-US" sz="1400" dirty="0">
                <a:solidFill>
                  <a:srgbClr val="7A4512"/>
                </a:solidFill>
                <a:latin typeface="Calibri" pitchFamily="34" charset="0"/>
                <a:ea typeface="Calibri" pitchFamily="34" charset="-122"/>
                <a:cs typeface="Calibri" pitchFamily="34" charset="-120"/>
              </a:rPr>
              <a:t>daffy</a:t>
            </a:r>
            <a:endParaRPr lang="en-US" sz="1400" dirty="0"/>
          </a:p>
        </p:txBody>
      </p:sp>
      <p:sp>
        <p:nvSpPr>
          <p:cNvPr id="24" name="Text 22"/>
          <p:cNvSpPr txBox="1"/>
          <p:nvPr/>
        </p:nvSpPr>
        <p:spPr>
          <a:xfrm>
            <a:off x="7245706" y="1828800"/>
            <a:ext cx="1645920" cy="438912"/>
          </a:xfrm>
          <a:prstGeom prst="rect">
            <a:avLst/>
          </a:prstGeom>
          <a:noFill/>
          <a:ln/>
        </p:spPr>
        <p:txBody>
          <a:bodyPr wrap="square" lIns="0" tIns="0" rIns="0" bIns="0" rtlCol="0" anchor="ctr"/>
          <a:lstStyle/>
          <a:p>
            <a:pPr indent="0" marL="0">
              <a:buNone/>
            </a:pPr>
            <a:r>
              <a:rPr lang="en-US" sz="1500" b="1" dirty="0">
                <a:solidFill>
                  <a:srgbClr val="1F1A2B"/>
                </a:solidFill>
                <a:latin typeface="Calibri" pitchFamily="34" charset="0"/>
                <a:ea typeface="Calibri" pitchFamily="34" charset="-122"/>
                <a:cs typeface="Calibri" pitchFamily="34" charset="-120"/>
              </a:rPr>
              <a:t>→ Family</a:t>
            </a:r>
            <a:endParaRPr lang="en-US" sz="1500" dirty="0"/>
          </a:p>
        </p:txBody>
      </p:sp>
      <p:sp>
        <p:nvSpPr>
          <p:cNvPr id="25" name="Text 23"/>
          <p:cNvSpPr txBox="1"/>
          <p:nvPr/>
        </p:nvSpPr>
        <p:spPr>
          <a:xfrm>
            <a:off x="6400800" y="2313432"/>
            <a:ext cx="5303520" cy="347472"/>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85% of plots that mention Daffy are tagged Family</a:t>
            </a:r>
            <a:endParaRPr lang="en-US" sz="1500" dirty="0"/>
          </a:p>
        </p:txBody>
      </p:sp>
      <p:sp>
        <p:nvSpPr>
          <p:cNvPr id="26" name="Text 24"/>
          <p:cNvSpPr txBox="1"/>
          <p:nvPr/>
        </p:nvSpPr>
        <p:spPr>
          <a:xfrm>
            <a:off x="6400800" y="2788920"/>
            <a:ext cx="917692" cy="438912"/>
          </a:xfrm>
          <a:prstGeom prst="roundRect">
            <a:avLst>
              <a:gd name="adj" fmla="val 50000"/>
            </a:avLst>
          </a:prstGeom>
          <a:solidFill>
            <a:srgbClr val="FBEBDD"/>
          </a:solidFill>
          <a:ln>
            <a:solidFill>
              <a:srgbClr val="FBEBDD"/>
            </a:solidFill>
          </a:ln>
        </p:spPr>
        <p:txBody>
          <a:bodyPr wrap="square" lIns="0" tIns="0" rIns="0" bIns="0" rtlCol="0" anchor="ctr"/>
          <a:lstStyle/>
          <a:p>
            <a:pPr algn="ctr" indent="0" marL="0">
              <a:buNone/>
            </a:pPr>
            <a:r>
              <a:rPr lang="en-US" sz="1400" dirty="0">
                <a:solidFill>
                  <a:srgbClr val="7A4512"/>
                </a:solidFill>
                <a:latin typeface="Calibri" pitchFamily="34" charset="0"/>
                <a:ea typeface="Calibri" pitchFamily="34" charset="-122"/>
                <a:cs typeface="Calibri" pitchFamily="34" charset="-120"/>
              </a:rPr>
              <a:t>stooges</a:t>
            </a:r>
            <a:endParaRPr lang="en-US" sz="1400" dirty="0"/>
          </a:p>
        </p:txBody>
      </p:sp>
      <p:sp>
        <p:nvSpPr>
          <p:cNvPr id="27" name="Text 25"/>
          <p:cNvSpPr txBox="1"/>
          <p:nvPr/>
        </p:nvSpPr>
        <p:spPr>
          <a:xfrm>
            <a:off x="7455652" y="2788920"/>
            <a:ext cx="1645920" cy="438912"/>
          </a:xfrm>
          <a:prstGeom prst="rect">
            <a:avLst/>
          </a:prstGeom>
          <a:noFill/>
          <a:ln/>
        </p:spPr>
        <p:txBody>
          <a:bodyPr wrap="square" lIns="0" tIns="0" rIns="0" bIns="0" rtlCol="0" anchor="ctr"/>
          <a:lstStyle/>
          <a:p>
            <a:pPr indent="0" marL="0">
              <a:buNone/>
            </a:pPr>
            <a:r>
              <a:rPr lang="en-US" sz="1500" b="1" dirty="0">
                <a:solidFill>
                  <a:srgbClr val="1F1A2B"/>
                </a:solidFill>
                <a:latin typeface="Calibri" pitchFamily="34" charset="0"/>
                <a:ea typeface="Calibri" pitchFamily="34" charset="-122"/>
                <a:cs typeface="Calibri" pitchFamily="34" charset="-120"/>
              </a:rPr>
              <a:t>→ Comedy</a:t>
            </a:r>
            <a:endParaRPr lang="en-US" sz="1500" dirty="0"/>
          </a:p>
        </p:txBody>
      </p:sp>
      <p:sp>
        <p:nvSpPr>
          <p:cNvPr id="28" name="Text 26"/>
          <p:cNvSpPr txBox="1"/>
          <p:nvPr/>
        </p:nvSpPr>
        <p:spPr>
          <a:xfrm>
            <a:off x="6400800" y="3273552"/>
            <a:ext cx="5303520" cy="347472"/>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199 of the 202 plots that mention the Stooges are comedies</a:t>
            </a:r>
            <a:endParaRPr lang="en-US" sz="1500" dirty="0"/>
          </a:p>
        </p:txBody>
      </p:sp>
      <p:sp>
        <p:nvSpPr>
          <p:cNvPr id="29" name="Text 27"/>
          <p:cNvSpPr txBox="1"/>
          <p:nvPr/>
        </p:nvSpPr>
        <p:spPr>
          <a:xfrm>
            <a:off x="6400800" y="3749040"/>
            <a:ext cx="812719" cy="438912"/>
          </a:xfrm>
          <a:prstGeom prst="roundRect">
            <a:avLst>
              <a:gd name="adj" fmla="val 50000"/>
            </a:avLst>
          </a:prstGeom>
          <a:solidFill>
            <a:srgbClr val="FBEBDD"/>
          </a:solidFill>
          <a:ln>
            <a:solidFill>
              <a:srgbClr val="FBEBDD"/>
            </a:solidFill>
          </a:ln>
        </p:spPr>
        <p:txBody>
          <a:bodyPr wrap="square" lIns="0" tIns="0" rIns="0" bIns="0" rtlCol="0" anchor="ctr"/>
          <a:lstStyle/>
          <a:p>
            <a:pPr algn="ctr" indent="0" marL="0">
              <a:buNone/>
            </a:pPr>
            <a:r>
              <a:rPr lang="en-US" sz="1400" dirty="0">
                <a:solidFill>
                  <a:srgbClr val="7A4512"/>
                </a:solidFill>
                <a:latin typeface="Calibri" pitchFamily="34" charset="0"/>
                <a:ea typeface="Calibri" pitchFamily="34" charset="-122"/>
                <a:cs typeface="Calibri" pitchFamily="34" charset="-120"/>
              </a:rPr>
              <a:t>mumbai</a:t>
            </a:r>
            <a:endParaRPr lang="en-US" sz="1400" dirty="0"/>
          </a:p>
        </p:txBody>
      </p:sp>
      <p:sp>
        <p:nvSpPr>
          <p:cNvPr id="30" name="Text 28"/>
          <p:cNvSpPr txBox="1"/>
          <p:nvPr/>
        </p:nvSpPr>
        <p:spPr>
          <a:xfrm>
            <a:off x="7350679" y="3749040"/>
            <a:ext cx="1645920" cy="438912"/>
          </a:xfrm>
          <a:prstGeom prst="rect">
            <a:avLst/>
          </a:prstGeom>
          <a:noFill/>
          <a:ln/>
        </p:spPr>
        <p:txBody>
          <a:bodyPr wrap="square" lIns="0" tIns="0" rIns="0" bIns="0" rtlCol="0" anchor="ctr"/>
          <a:lstStyle/>
          <a:p>
            <a:pPr indent="0" marL="0">
              <a:buNone/>
            </a:pPr>
            <a:r>
              <a:rPr lang="en-US" sz="1500" b="1" dirty="0">
                <a:solidFill>
                  <a:srgbClr val="1F1A2B"/>
                </a:solidFill>
                <a:latin typeface="Calibri" pitchFamily="34" charset="0"/>
                <a:ea typeface="Calibri" pitchFamily="34" charset="-122"/>
                <a:cs typeface="Calibri" pitchFamily="34" charset="-120"/>
              </a:rPr>
              <a:t>→ Musical</a:t>
            </a:r>
            <a:endParaRPr lang="en-US" sz="1500" dirty="0"/>
          </a:p>
        </p:txBody>
      </p:sp>
      <p:sp>
        <p:nvSpPr>
          <p:cNvPr id="31" name="Text 29"/>
          <p:cNvSpPr txBox="1"/>
          <p:nvPr/>
        </p:nvSpPr>
        <p:spPr>
          <a:xfrm>
            <a:off x="6400800" y="4233672"/>
            <a:ext cx="5303520" cy="347472"/>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31% are tagged Musical, against 6% of all films</a:t>
            </a:r>
            <a:endParaRPr lang="en-US" sz="1500" dirty="0"/>
          </a:p>
        </p:txBody>
      </p:sp>
      <p:sp>
        <p:nvSpPr>
          <p:cNvPr id="32" name="Text 30"/>
          <p:cNvSpPr txBox="1"/>
          <p:nvPr/>
        </p:nvSpPr>
        <p:spPr>
          <a:xfrm>
            <a:off x="6400800" y="4709160"/>
            <a:ext cx="640080" cy="438912"/>
          </a:xfrm>
          <a:prstGeom prst="roundRect">
            <a:avLst>
              <a:gd name="adj" fmla="val 50000"/>
            </a:avLst>
          </a:prstGeom>
          <a:solidFill>
            <a:srgbClr val="FBEBDD"/>
          </a:solidFill>
          <a:ln>
            <a:solidFill>
              <a:srgbClr val="FBEBDD"/>
            </a:solidFill>
          </a:ln>
        </p:spPr>
        <p:txBody>
          <a:bodyPr wrap="square" lIns="0" tIns="0" rIns="0" bIns="0" rtlCol="0" anchor="ctr"/>
          <a:lstStyle/>
          <a:p>
            <a:pPr algn="ctr" indent="0" marL="0">
              <a:buNone/>
            </a:pPr>
            <a:r>
              <a:rPr lang="en-US" sz="1400" dirty="0">
                <a:solidFill>
                  <a:srgbClr val="7A4512"/>
                </a:solidFill>
                <a:latin typeface="Calibri" pitchFamily="34" charset="0"/>
                <a:ea typeface="Calibri" pitchFamily="34" charset="-122"/>
                <a:cs typeface="Calibri" pitchFamily="34" charset="-120"/>
              </a:rPr>
              <a:t>she</a:t>
            </a:r>
            <a:endParaRPr lang="en-US" sz="1400" dirty="0"/>
          </a:p>
        </p:txBody>
      </p:sp>
      <p:sp>
        <p:nvSpPr>
          <p:cNvPr id="33" name="Text 31"/>
          <p:cNvSpPr txBox="1"/>
          <p:nvPr/>
        </p:nvSpPr>
        <p:spPr>
          <a:xfrm>
            <a:off x="7178040" y="4709160"/>
            <a:ext cx="1645920" cy="438912"/>
          </a:xfrm>
          <a:prstGeom prst="rect">
            <a:avLst/>
          </a:prstGeom>
          <a:noFill/>
          <a:ln/>
        </p:spPr>
        <p:txBody>
          <a:bodyPr wrap="square" lIns="0" tIns="0" rIns="0" bIns="0" rtlCol="0" anchor="ctr"/>
          <a:lstStyle/>
          <a:p>
            <a:pPr indent="0" marL="0">
              <a:buNone/>
            </a:pPr>
            <a:r>
              <a:rPr lang="en-US" sz="1500" b="1" dirty="0">
                <a:solidFill>
                  <a:srgbClr val="1F1A2B"/>
                </a:solidFill>
                <a:latin typeface="Calibri" pitchFamily="34" charset="0"/>
                <a:ea typeface="Calibri" pitchFamily="34" charset="-122"/>
                <a:cs typeface="Calibri" pitchFamily="34" charset="-120"/>
              </a:rPr>
              <a:t>→ Romance</a:t>
            </a:r>
            <a:endParaRPr lang="en-US" sz="1500" dirty="0"/>
          </a:p>
        </p:txBody>
      </p:sp>
      <p:sp>
        <p:nvSpPr>
          <p:cNvPr id="34" name="Text 32"/>
          <p:cNvSpPr txBox="1"/>
          <p:nvPr/>
        </p:nvSpPr>
        <p:spPr>
          <a:xfrm>
            <a:off x="6400800" y="5193792"/>
            <a:ext cx="5303520" cy="347472"/>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the #3 strongest Romance word</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Splitting text into words</a:t>
            </a:r>
            <a:endParaRPr lang="en-US" sz="3000" dirty="0"/>
          </a:p>
        </p:txBody>
      </p:sp>
      <p:sp>
        <p:nvSpPr>
          <p:cNvPr id="3" name="Text 1"/>
          <p:cNvSpPr txBox="1"/>
          <p:nvPr/>
        </p:nvSpPr>
        <p:spPr>
          <a:xfrm>
            <a:off x="548640" y="1371600"/>
            <a:ext cx="5486400" cy="365760"/>
          </a:xfrm>
          <a:prstGeom prst="rect">
            <a:avLst/>
          </a:prstGeom>
          <a:noFill/>
          <a:ln/>
        </p:spPr>
        <p:txBody>
          <a:bodyPr wrap="square" lIns="0" tIns="0" rIns="0" bIns="0" rtlCol="0" anchor="t"/>
          <a:lstStyle/>
          <a:p>
            <a:pPr indent="0" marL="0">
              <a:buNone/>
            </a:pPr>
            <a:r>
              <a:rPr lang="en-US" sz="1800" b="1" dirty="0">
                <a:solidFill>
                  <a:srgbClr val="1F1A2B"/>
                </a:solidFill>
                <a:latin typeface="Calibri" pitchFamily="34" charset="0"/>
                <a:ea typeface="Calibri" pitchFamily="34" charset="-122"/>
                <a:cs typeface="Calibri" pitchFamily="34" charset="-120"/>
              </a:rPr>
              <a:t>Python and Dart don’t agree about text</a:t>
            </a:r>
            <a:endParaRPr lang="en-US" sz="1800" dirty="0"/>
          </a:p>
        </p:txBody>
      </p:sp>
      <p:sp>
        <p:nvSpPr>
          <p:cNvPr id="4" name="Shape 2"/>
          <p:cNvSpPr/>
          <p:nvPr/>
        </p:nvSpPr>
        <p:spPr>
          <a:xfrm>
            <a:off x="548640" y="1965960"/>
            <a:ext cx="5394960" cy="822960"/>
          </a:xfrm>
          <a:prstGeom prst="roundRect">
            <a:avLst>
              <a:gd name="adj" fmla="val 17778"/>
            </a:avLst>
          </a:prstGeom>
          <a:solidFill>
            <a:srgbClr val="F1ECF8"/>
          </a:solidFill>
          <a:ln w="12700">
            <a:solidFill>
              <a:srgbClr val="F1ECF8"/>
            </a:solidFill>
            <a:prstDash val="solid"/>
          </a:ln>
        </p:spPr>
      </p:sp>
      <p:sp>
        <p:nvSpPr>
          <p:cNvPr id="5" name="Text 3"/>
          <p:cNvSpPr txBox="1"/>
          <p:nvPr/>
        </p:nvSpPr>
        <p:spPr>
          <a:xfrm>
            <a:off x="731520" y="2084832"/>
            <a:ext cx="685800" cy="585216"/>
          </a:xfrm>
          <a:prstGeom prst="rect">
            <a:avLst/>
          </a:prstGeom>
          <a:noFill/>
          <a:ln/>
        </p:spPr>
        <p:txBody>
          <a:bodyPr wrap="square" lIns="0" tIns="0" rIns="0" bIns="0" rtlCol="0" anchor="ctr"/>
          <a:lstStyle/>
          <a:p>
            <a:pPr algn="ctr" indent="0" marL="0">
              <a:buNone/>
            </a:pPr>
            <a:r>
              <a:rPr lang="en-US" sz="3000" dirty="0">
                <a:solidFill>
                  <a:srgbClr val="6750A4"/>
                </a:solidFill>
                <a:latin typeface="Georgia" pitchFamily="34" charset="0"/>
                <a:ea typeface="Georgia" pitchFamily="34" charset="-122"/>
                <a:cs typeface="Georgia" pitchFamily="34" charset="-120"/>
              </a:rPr>
              <a:t>K</a:t>
            </a:r>
            <a:endParaRPr lang="en-US" sz="3000" dirty="0"/>
          </a:p>
        </p:txBody>
      </p:sp>
      <p:sp>
        <p:nvSpPr>
          <p:cNvPr id="6" name="Text 4"/>
          <p:cNvSpPr txBox="1"/>
          <p:nvPr/>
        </p:nvSpPr>
        <p:spPr>
          <a:xfrm>
            <a:off x="1600200" y="2075688"/>
            <a:ext cx="4206240" cy="320040"/>
          </a:xfrm>
          <a:prstGeom prst="rect">
            <a:avLst/>
          </a:prstGeom>
          <a:noFill/>
          <a:ln/>
        </p:spPr>
        <p:txBody>
          <a:bodyPr wrap="square" lIns="0" tIns="0" rIns="0" bIns="0" rtlCol="0" anchor="t"/>
          <a:lstStyle/>
          <a:p>
            <a:pPr indent="0" marL="0">
              <a:buNone/>
            </a:pPr>
            <a:r>
              <a:rPr lang="en-US" sz="1500" b="1" dirty="0">
                <a:solidFill>
                  <a:srgbClr val="1F1A2B"/>
                </a:solidFill>
                <a:latin typeface="Calibri" pitchFamily="34" charset="0"/>
                <a:ea typeface="Calibri" pitchFamily="34" charset="-122"/>
                <a:cs typeface="Calibri" pitchFamily="34" charset="-120"/>
              </a:rPr>
              <a:t>Kelvin sign (U+212A)</a:t>
            </a:r>
            <a:endParaRPr lang="en-US" sz="1500" dirty="0"/>
          </a:p>
        </p:txBody>
      </p:sp>
      <p:sp>
        <p:nvSpPr>
          <p:cNvPr id="7" name="Text 5"/>
          <p:cNvSpPr txBox="1"/>
          <p:nvPr/>
        </p:nvSpPr>
        <p:spPr>
          <a:xfrm>
            <a:off x="1600200" y="2395728"/>
            <a:ext cx="4206240" cy="320040"/>
          </a:xfrm>
          <a:prstGeom prst="rect">
            <a:avLst/>
          </a:prstGeom>
          <a:noFill/>
          <a:ln/>
        </p:spPr>
        <p:txBody>
          <a:bodyPr wrap="square" lIns="0" tIns="0" rIns="0" bIns="0" rtlCol="0" anchor="t"/>
          <a:lstStyle/>
          <a:p>
            <a:pPr indent="0" marL="0">
              <a:buNone/>
            </a:pPr>
            <a:r>
              <a:rPr lang="en-US" sz="1400" dirty="0">
                <a:solidFill>
                  <a:srgbClr val="3A3646"/>
                </a:solidFill>
                <a:latin typeface="Calibri" pitchFamily="34" charset="0"/>
                <a:ea typeface="Calibri" pitchFamily="34" charset="-122"/>
                <a:cs typeface="Calibri" pitchFamily="34" charset="-120"/>
              </a:rPr>
              <a:t>Python lowercases it to a plain “k”</a:t>
            </a:r>
            <a:endParaRPr lang="en-US" sz="1400" dirty="0"/>
          </a:p>
        </p:txBody>
      </p:sp>
      <p:sp>
        <p:nvSpPr>
          <p:cNvPr id="8" name="Shape 6"/>
          <p:cNvSpPr/>
          <p:nvPr/>
        </p:nvSpPr>
        <p:spPr>
          <a:xfrm>
            <a:off x="548640" y="2953512"/>
            <a:ext cx="5394960" cy="822960"/>
          </a:xfrm>
          <a:prstGeom prst="roundRect">
            <a:avLst>
              <a:gd name="adj" fmla="val 17778"/>
            </a:avLst>
          </a:prstGeom>
          <a:solidFill>
            <a:srgbClr val="F1ECF8"/>
          </a:solidFill>
          <a:ln w="12700">
            <a:solidFill>
              <a:srgbClr val="F1ECF8"/>
            </a:solidFill>
            <a:prstDash val="solid"/>
          </a:ln>
        </p:spPr>
      </p:sp>
      <p:sp>
        <p:nvSpPr>
          <p:cNvPr id="9" name="Text 7"/>
          <p:cNvSpPr txBox="1"/>
          <p:nvPr/>
        </p:nvSpPr>
        <p:spPr>
          <a:xfrm>
            <a:off x="731520" y="3072384"/>
            <a:ext cx="685800" cy="585216"/>
          </a:xfrm>
          <a:prstGeom prst="rect">
            <a:avLst/>
          </a:prstGeom>
          <a:noFill/>
          <a:ln/>
        </p:spPr>
        <p:txBody>
          <a:bodyPr wrap="square" lIns="0" tIns="0" rIns="0" bIns="0" rtlCol="0" anchor="ctr"/>
          <a:lstStyle/>
          <a:p>
            <a:pPr algn="ctr" indent="0" marL="0">
              <a:buNone/>
            </a:pPr>
            <a:r>
              <a:rPr lang="en-US" sz="3000" dirty="0">
                <a:solidFill>
                  <a:srgbClr val="6750A4"/>
                </a:solidFill>
                <a:latin typeface="Georgia" pitchFamily="34" charset="0"/>
                <a:ea typeface="Georgia" pitchFamily="34" charset="-122"/>
                <a:cs typeface="Georgia" pitchFamily="34" charset="-120"/>
              </a:rPr>
              <a:t>İ</a:t>
            </a:r>
            <a:endParaRPr lang="en-US" sz="3000" dirty="0"/>
          </a:p>
        </p:txBody>
      </p:sp>
      <p:sp>
        <p:nvSpPr>
          <p:cNvPr id="10" name="Text 8"/>
          <p:cNvSpPr txBox="1"/>
          <p:nvPr/>
        </p:nvSpPr>
        <p:spPr>
          <a:xfrm>
            <a:off x="1600200" y="3063240"/>
            <a:ext cx="4206240" cy="320040"/>
          </a:xfrm>
          <a:prstGeom prst="rect">
            <a:avLst/>
          </a:prstGeom>
          <a:noFill/>
          <a:ln/>
        </p:spPr>
        <p:txBody>
          <a:bodyPr wrap="square" lIns="0" tIns="0" rIns="0" bIns="0" rtlCol="0" anchor="t"/>
          <a:lstStyle/>
          <a:p>
            <a:pPr indent="0" marL="0">
              <a:buNone/>
            </a:pPr>
            <a:r>
              <a:rPr lang="en-US" sz="1500" b="1" dirty="0">
                <a:solidFill>
                  <a:srgbClr val="1F1A2B"/>
                </a:solidFill>
                <a:latin typeface="Calibri" pitchFamily="34" charset="0"/>
                <a:ea typeface="Calibri" pitchFamily="34" charset="-122"/>
                <a:cs typeface="Calibri" pitchFamily="34" charset="-120"/>
              </a:rPr>
              <a:t>Turkish capital I</a:t>
            </a:r>
            <a:endParaRPr lang="en-US" sz="1500" dirty="0"/>
          </a:p>
        </p:txBody>
      </p:sp>
      <p:sp>
        <p:nvSpPr>
          <p:cNvPr id="11" name="Text 9"/>
          <p:cNvSpPr txBox="1"/>
          <p:nvPr/>
        </p:nvSpPr>
        <p:spPr>
          <a:xfrm>
            <a:off x="1600200" y="3383280"/>
            <a:ext cx="4206240" cy="320040"/>
          </a:xfrm>
          <a:prstGeom prst="rect">
            <a:avLst/>
          </a:prstGeom>
          <a:noFill/>
          <a:ln/>
        </p:spPr>
        <p:txBody>
          <a:bodyPr wrap="square" lIns="0" tIns="0" rIns="0" bIns="0" rtlCol="0" anchor="t"/>
          <a:lstStyle/>
          <a:p>
            <a:pPr indent="0" marL="0">
              <a:buNone/>
            </a:pPr>
            <a:r>
              <a:rPr lang="en-US" sz="1400" dirty="0">
                <a:solidFill>
                  <a:srgbClr val="3A3646"/>
                </a:solidFill>
                <a:latin typeface="Calibri" pitchFamily="34" charset="0"/>
                <a:ea typeface="Calibri" pitchFamily="34" charset="-122"/>
                <a:cs typeface="Calibri" pitchFamily="34" charset="-120"/>
              </a:rPr>
              <a:t>Python turns it into two characters</a:t>
            </a:r>
            <a:endParaRPr lang="en-US" sz="1400" dirty="0"/>
          </a:p>
        </p:txBody>
      </p:sp>
      <p:sp>
        <p:nvSpPr>
          <p:cNvPr id="12" name="Shape 10"/>
          <p:cNvSpPr/>
          <p:nvPr/>
        </p:nvSpPr>
        <p:spPr>
          <a:xfrm>
            <a:off x="548640" y="3941064"/>
            <a:ext cx="5394960" cy="822960"/>
          </a:xfrm>
          <a:prstGeom prst="roundRect">
            <a:avLst>
              <a:gd name="adj" fmla="val 17778"/>
            </a:avLst>
          </a:prstGeom>
          <a:solidFill>
            <a:srgbClr val="F1ECF8"/>
          </a:solidFill>
          <a:ln w="12700">
            <a:solidFill>
              <a:srgbClr val="F1ECF8"/>
            </a:solidFill>
            <a:prstDash val="solid"/>
          </a:ln>
        </p:spPr>
      </p:sp>
      <p:sp>
        <p:nvSpPr>
          <p:cNvPr id="13" name="Text 11"/>
          <p:cNvSpPr txBox="1"/>
          <p:nvPr/>
        </p:nvSpPr>
        <p:spPr>
          <a:xfrm>
            <a:off x="731520" y="4059936"/>
            <a:ext cx="685800" cy="585216"/>
          </a:xfrm>
          <a:prstGeom prst="rect">
            <a:avLst/>
          </a:prstGeom>
          <a:noFill/>
          <a:ln/>
        </p:spPr>
        <p:txBody>
          <a:bodyPr wrap="square" lIns="0" tIns="0" rIns="0" bIns="0" rtlCol="0" anchor="ctr"/>
          <a:lstStyle/>
          <a:p>
            <a:pPr algn="ctr" indent="0" marL="0">
              <a:buNone/>
            </a:pPr>
            <a:r>
              <a:rPr lang="en-US" sz="3000" dirty="0">
                <a:solidFill>
                  <a:srgbClr val="6750A4"/>
                </a:solidFill>
                <a:latin typeface="Consolas" pitchFamily="34" charset="0"/>
                <a:ea typeface="Consolas" pitchFamily="34" charset="-122"/>
                <a:cs typeface="Consolas" pitchFamily="34" charset="-120"/>
              </a:rPr>
              <a:t>\w</a:t>
            </a:r>
            <a:endParaRPr lang="en-US" sz="3000" dirty="0"/>
          </a:p>
        </p:txBody>
      </p:sp>
      <p:sp>
        <p:nvSpPr>
          <p:cNvPr id="14" name="Text 12"/>
          <p:cNvSpPr txBox="1"/>
          <p:nvPr/>
        </p:nvSpPr>
        <p:spPr>
          <a:xfrm>
            <a:off x="1600200" y="4050792"/>
            <a:ext cx="4206240" cy="320040"/>
          </a:xfrm>
          <a:prstGeom prst="rect">
            <a:avLst/>
          </a:prstGeom>
          <a:noFill/>
          <a:ln/>
        </p:spPr>
        <p:txBody>
          <a:bodyPr wrap="square" lIns="0" tIns="0" rIns="0" bIns="0" rtlCol="0" anchor="t"/>
          <a:lstStyle/>
          <a:p>
            <a:pPr indent="0" marL="0">
              <a:buNone/>
            </a:pPr>
            <a:r>
              <a:rPr lang="en-US" sz="1500" b="1" dirty="0">
                <a:solidFill>
                  <a:srgbClr val="1F1A2B"/>
                </a:solidFill>
                <a:latin typeface="Calibri" pitchFamily="34" charset="0"/>
                <a:ea typeface="Calibri" pitchFamily="34" charset="-122"/>
                <a:cs typeface="Calibri" pitchFamily="34" charset="-120"/>
              </a:rPr>
              <a:t>“word character”</a:t>
            </a:r>
            <a:endParaRPr lang="en-US" sz="1500" dirty="0"/>
          </a:p>
        </p:txBody>
      </p:sp>
      <p:sp>
        <p:nvSpPr>
          <p:cNvPr id="15" name="Text 13"/>
          <p:cNvSpPr txBox="1"/>
          <p:nvPr/>
        </p:nvSpPr>
        <p:spPr>
          <a:xfrm>
            <a:off x="1600200" y="4370832"/>
            <a:ext cx="4206240" cy="320040"/>
          </a:xfrm>
          <a:prstGeom prst="rect">
            <a:avLst/>
          </a:prstGeom>
          <a:noFill/>
          <a:ln/>
        </p:spPr>
        <p:txBody>
          <a:bodyPr wrap="square" lIns="0" tIns="0" rIns="0" bIns="0" rtlCol="0" anchor="t"/>
          <a:lstStyle/>
          <a:p>
            <a:pPr indent="0" marL="0">
              <a:buNone/>
            </a:pPr>
            <a:r>
              <a:rPr lang="en-US" sz="1400" dirty="0">
                <a:solidFill>
                  <a:srgbClr val="3A3646"/>
                </a:solidFill>
                <a:latin typeface="Calibri" pitchFamily="34" charset="0"/>
                <a:ea typeface="Calibri" pitchFamily="34" charset="-122"/>
                <a:cs typeface="Calibri" pitchFamily="34" charset="-120"/>
              </a:rPr>
              <a:t>means different things in each language</a:t>
            </a:r>
            <a:endParaRPr lang="en-US" sz="1400" dirty="0"/>
          </a:p>
        </p:txBody>
      </p:sp>
      <p:sp>
        <p:nvSpPr>
          <p:cNvPr id="16" name="Text 14"/>
          <p:cNvSpPr txBox="1"/>
          <p:nvPr/>
        </p:nvSpPr>
        <p:spPr>
          <a:xfrm>
            <a:off x="6675120" y="1371600"/>
            <a:ext cx="4937760" cy="365760"/>
          </a:xfrm>
          <a:prstGeom prst="rect">
            <a:avLst/>
          </a:prstGeom>
          <a:noFill/>
          <a:ln/>
        </p:spPr>
        <p:txBody>
          <a:bodyPr wrap="square" lIns="0" tIns="0" rIns="0" bIns="0" rtlCol="0" anchor="t"/>
          <a:lstStyle/>
          <a:p>
            <a:pPr indent="0" marL="0">
              <a:buNone/>
            </a:pPr>
            <a:r>
              <a:rPr lang="en-US" sz="1800" b="1" dirty="0">
                <a:solidFill>
                  <a:srgbClr val="1F1A2B"/>
                </a:solidFill>
                <a:latin typeface="Calibri" pitchFamily="34" charset="0"/>
                <a:ea typeface="Calibri" pitchFamily="34" charset="-122"/>
                <a:cs typeface="Calibri" pitchFamily="34" charset="-120"/>
              </a:rPr>
              <a:t>So the rule is blunt</a:t>
            </a:r>
            <a:endParaRPr lang="en-US" sz="1800" dirty="0"/>
          </a:p>
        </p:txBody>
      </p:sp>
      <p:sp>
        <p:nvSpPr>
          <p:cNvPr id="17" name="Text 15"/>
          <p:cNvSpPr txBox="1"/>
          <p:nvPr/>
        </p:nvSpPr>
        <p:spPr>
          <a:xfrm>
            <a:off x="6675120" y="1828800"/>
            <a:ext cx="4937760" cy="822960"/>
          </a:xfrm>
          <a:prstGeom prst="rect">
            <a:avLst/>
          </a:prstGeom>
          <a:noFill/>
          <a:ln/>
        </p:spPr>
        <p:txBody>
          <a:bodyPr wrap="square" lIns="0" tIns="0" rIns="0" bIns="0" rtlCol="0" anchor="t"/>
          <a:lstStyle/>
          <a:p>
            <a:pPr indent="0" marL="0">
              <a:buNone/>
            </a:pPr>
            <a:r>
              <a:rPr lang="en-US" sz="1600" dirty="0">
                <a:solidFill>
                  <a:srgbClr val="3A3646"/>
                </a:solidFill>
                <a:latin typeface="Calibri" pitchFamily="34" charset="0"/>
                <a:ea typeface="Calibri" pitchFamily="34" charset="-122"/>
                <a:cs typeface="Calibri" pitchFamily="34" charset="-120"/>
              </a:rPr>
              <a:t>A word is a run of 2 or more plain ASCII letters, lowercased. Everything else splits words.</a:t>
            </a:r>
            <a:endParaRPr lang="en-US" sz="1600" dirty="0"/>
          </a:p>
        </p:txBody>
      </p:sp>
      <p:sp>
        <p:nvSpPr>
          <p:cNvPr id="18" name="Text 16"/>
          <p:cNvSpPr txBox="1"/>
          <p:nvPr/>
        </p:nvSpPr>
        <p:spPr>
          <a:xfrm>
            <a:off x="6675120" y="2788920"/>
            <a:ext cx="4937760" cy="411480"/>
          </a:xfrm>
          <a:prstGeom prst="rect">
            <a:avLst/>
          </a:prstGeom>
          <a:noFill/>
          <a:ln/>
        </p:spPr>
        <p:txBody>
          <a:bodyPr wrap="square" lIns="0" tIns="0" rIns="0" bIns="0" rtlCol="0" anchor="t"/>
          <a:lstStyle/>
          <a:p>
            <a:pPr indent="0" marL="0">
              <a:buNone/>
            </a:pPr>
            <a:r>
              <a:rPr lang="en-US" sz="1800" i="1" dirty="0">
                <a:solidFill>
                  <a:srgbClr val="1F1A2B"/>
                </a:solidFill>
                <a:latin typeface="Calibri" pitchFamily="34" charset="0"/>
                <a:ea typeface="Calibri" pitchFamily="34" charset="-122"/>
                <a:cs typeface="Calibri" pitchFamily="34" charset="-120"/>
              </a:rPr>
              <a:t>“Spider-Man’s 2nd fight!”</a:t>
            </a:r>
            <a:endParaRPr lang="en-US" sz="1800" dirty="0"/>
          </a:p>
        </p:txBody>
      </p:sp>
      <p:sp>
        <p:nvSpPr>
          <p:cNvPr id="19" name="Text 17"/>
          <p:cNvSpPr txBox="1"/>
          <p:nvPr/>
        </p:nvSpPr>
        <p:spPr>
          <a:xfrm>
            <a:off x="6675120" y="3337560"/>
            <a:ext cx="902696" cy="457200"/>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600" dirty="0">
                <a:solidFill>
                  <a:srgbClr val="4B3D73"/>
                </a:solidFill>
                <a:latin typeface="Consolas" pitchFamily="34" charset="0"/>
                <a:ea typeface="Consolas" pitchFamily="34" charset="-122"/>
                <a:cs typeface="Consolas" pitchFamily="34" charset="-120"/>
              </a:rPr>
              <a:t>spider</a:t>
            </a:r>
            <a:endParaRPr lang="en-US" sz="1600" dirty="0"/>
          </a:p>
        </p:txBody>
      </p:sp>
      <p:sp>
        <p:nvSpPr>
          <p:cNvPr id="20" name="Text 18"/>
          <p:cNvSpPr txBox="1"/>
          <p:nvPr/>
        </p:nvSpPr>
        <p:spPr>
          <a:xfrm>
            <a:off x="7705832" y="3337560"/>
            <a:ext cx="640080" cy="457200"/>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600" dirty="0">
                <a:solidFill>
                  <a:srgbClr val="4B3D73"/>
                </a:solidFill>
                <a:latin typeface="Consolas" pitchFamily="34" charset="0"/>
                <a:ea typeface="Consolas" pitchFamily="34" charset="-122"/>
                <a:cs typeface="Consolas" pitchFamily="34" charset="-120"/>
              </a:rPr>
              <a:t>man</a:t>
            </a:r>
            <a:endParaRPr lang="en-US" sz="1600" dirty="0"/>
          </a:p>
        </p:txBody>
      </p:sp>
      <p:sp>
        <p:nvSpPr>
          <p:cNvPr id="21" name="Text 19"/>
          <p:cNvSpPr txBox="1"/>
          <p:nvPr/>
        </p:nvSpPr>
        <p:spPr>
          <a:xfrm>
            <a:off x="8473928" y="3337560"/>
            <a:ext cx="640080" cy="457200"/>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600" dirty="0">
                <a:solidFill>
                  <a:srgbClr val="4B3D73"/>
                </a:solidFill>
                <a:latin typeface="Consolas" pitchFamily="34" charset="0"/>
                <a:ea typeface="Consolas" pitchFamily="34" charset="-122"/>
                <a:cs typeface="Consolas" pitchFamily="34" charset="-120"/>
              </a:rPr>
              <a:t>nd</a:t>
            </a:r>
            <a:endParaRPr lang="en-US" sz="1600" dirty="0"/>
          </a:p>
        </p:txBody>
      </p:sp>
      <p:sp>
        <p:nvSpPr>
          <p:cNvPr id="22" name="Text 20"/>
          <p:cNvSpPr txBox="1"/>
          <p:nvPr/>
        </p:nvSpPr>
        <p:spPr>
          <a:xfrm>
            <a:off x="9242024" y="3337560"/>
            <a:ext cx="782726" cy="457200"/>
          </a:xfrm>
          <a:prstGeom prst="roundRect">
            <a:avLst>
              <a:gd name="adj" fmla="val 50000"/>
            </a:avLst>
          </a:prstGeom>
          <a:solidFill>
            <a:srgbClr val="F1ECF8"/>
          </a:solidFill>
          <a:ln>
            <a:solidFill>
              <a:srgbClr val="F1ECF8"/>
            </a:solidFill>
          </a:ln>
        </p:spPr>
        <p:txBody>
          <a:bodyPr wrap="square" lIns="0" tIns="0" rIns="0" bIns="0" rtlCol="0" anchor="ctr"/>
          <a:lstStyle/>
          <a:p>
            <a:pPr algn="ctr" indent="0" marL="0">
              <a:buNone/>
            </a:pPr>
            <a:r>
              <a:rPr lang="en-US" sz="1600" dirty="0">
                <a:solidFill>
                  <a:srgbClr val="4B3D73"/>
                </a:solidFill>
                <a:latin typeface="Consolas" pitchFamily="34" charset="0"/>
                <a:ea typeface="Consolas" pitchFamily="34" charset="-122"/>
                <a:cs typeface="Consolas" pitchFamily="34" charset="-120"/>
              </a:rPr>
              <a:t>fight</a:t>
            </a:r>
            <a:endParaRPr lang="en-US" sz="16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Making Python and Dart agree</a:t>
            </a:r>
            <a:endParaRPr lang="en-US" sz="3000" dirty="0"/>
          </a:p>
        </p:txBody>
      </p:sp>
      <p:sp>
        <p:nvSpPr>
          <p:cNvPr id="3" name="Shape 1"/>
          <p:cNvSpPr/>
          <p:nvPr/>
        </p:nvSpPr>
        <p:spPr>
          <a:xfrm>
            <a:off x="548640" y="1463040"/>
            <a:ext cx="3535985" cy="2148840"/>
          </a:xfrm>
          <a:prstGeom prst="roundRect">
            <a:avLst>
              <a:gd name="adj" fmla="val 6809"/>
            </a:avLst>
          </a:prstGeom>
          <a:solidFill>
            <a:srgbClr val="F1ECF8"/>
          </a:solidFill>
          <a:ln w="12700">
            <a:solidFill>
              <a:srgbClr val="F1ECF8"/>
            </a:solidFill>
            <a:prstDash val="solid"/>
          </a:ln>
        </p:spPr>
      </p:sp>
      <p:sp>
        <p:nvSpPr>
          <p:cNvPr id="4" name="Text 2"/>
          <p:cNvSpPr txBox="1"/>
          <p:nvPr/>
        </p:nvSpPr>
        <p:spPr>
          <a:xfrm>
            <a:off x="868680" y="1783080"/>
            <a:ext cx="2926080" cy="411480"/>
          </a:xfrm>
          <a:prstGeom prst="rect">
            <a:avLst/>
          </a:prstGeom>
          <a:noFill/>
          <a:ln/>
        </p:spPr>
        <p:txBody>
          <a:bodyPr wrap="square" lIns="0" tIns="0" rIns="0" bIns="0" rtlCol="0" anchor="t"/>
          <a:lstStyle/>
          <a:p>
            <a:pPr indent="0" marL="0">
              <a:buNone/>
            </a:pPr>
            <a:r>
              <a:rPr lang="en-US" sz="2100" b="1" dirty="0">
                <a:solidFill>
                  <a:srgbClr val="1F1A2B"/>
                </a:solidFill>
                <a:latin typeface="Calibri" pitchFamily="34" charset="0"/>
                <a:ea typeface="Calibri" pitchFamily="34" charset="-122"/>
                <a:cs typeface="Calibri" pitchFamily="34" charset="-120"/>
              </a:rPr>
              <a:t>Tokenizer</a:t>
            </a:r>
            <a:endParaRPr lang="en-US" sz="2100" dirty="0"/>
          </a:p>
        </p:txBody>
      </p:sp>
      <p:sp>
        <p:nvSpPr>
          <p:cNvPr id="5" name="Text 3"/>
          <p:cNvSpPr txBox="1"/>
          <p:nvPr/>
        </p:nvSpPr>
        <p:spPr>
          <a:xfrm>
            <a:off x="868680" y="2331720"/>
            <a:ext cx="2926080" cy="1188720"/>
          </a:xfrm>
          <a:prstGeom prst="rect">
            <a:avLst/>
          </a:prstGeom>
          <a:noFill/>
          <a:ln/>
        </p:spPr>
        <p:txBody>
          <a:bodyPr wrap="square" lIns="0" tIns="0" rIns="0" bIns="0" rtlCol="0" anchor="t"/>
          <a:lstStyle/>
          <a:p>
            <a:pPr indent="0" marL="0">
              <a:lnSpc>
                <a:spcPct val="105000"/>
              </a:lnSpc>
              <a:buNone/>
            </a:pPr>
            <a:r>
              <a:rPr lang="en-US" sz="1600" dirty="0">
                <a:solidFill>
                  <a:srgbClr val="3A3646"/>
                </a:solidFill>
                <a:latin typeface="Calibri" pitchFamily="34" charset="0"/>
                <a:ea typeface="Calibri" pitchFamily="34" charset="-122"/>
                <a:cs typeface="Calibri" pitchFamily="34" charset="-120"/>
              </a:rPr>
              <a:t>19 awkward inputs (accents, emoji, the Kelvin sign) give identical tokens in Python and Dart.</a:t>
            </a:r>
            <a:endParaRPr lang="en-US" sz="1600" dirty="0"/>
          </a:p>
        </p:txBody>
      </p:sp>
      <p:sp>
        <p:nvSpPr>
          <p:cNvPr id="6" name="Shape 4"/>
          <p:cNvSpPr/>
          <p:nvPr/>
        </p:nvSpPr>
        <p:spPr>
          <a:xfrm>
            <a:off x="4313225" y="1463040"/>
            <a:ext cx="3535985" cy="2148840"/>
          </a:xfrm>
          <a:prstGeom prst="roundRect">
            <a:avLst>
              <a:gd name="adj" fmla="val 6809"/>
            </a:avLst>
          </a:prstGeom>
          <a:solidFill>
            <a:srgbClr val="F1ECF8"/>
          </a:solidFill>
          <a:ln w="12700">
            <a:solidFill>
              <a:srgbClr val="F1ECF8"/>
            </a:solidFill>
            <a:prstDash val="solid"/>
          </a:ln>
        </p:spPr>
      </p:sp>
      <p:sp>
        <p:nvSpPr>
          <p:cNvPr id="7" name="Text 5"/>
          <p:cNvSpPr txBox="1"/>
          <p:nvPr/>
        </p:nvSpPr>
        <p:spPr>
          <a:xfrm>
            <a:off x="4633265" y="1783080"/>
            <a:ext cx="2926080" cy="411480"/>
          </a:xfrm>
          <a:prstGeom prst="rect">
            <a:avLst/>
          </a:prstGeom>
          <a:noFill/>
          <a:ln/>
        </p:spPr>
        <p:txBody>
          <a:bodyPr wrap="square" lIns="0" tIns="0" rIns="0" bIns="0" rtlCol="0" anchor="t"/>
          <a:lstStyle/>
          <a:p>
            <a:pPr indent="0" marL="0">
              <a:buNone/>
            </a:pPr>
            <a:r>
              <a:rPr lang="en-US" sz="2100" b="1" dirty="0">
                <a:solidFill>
                  <a:srgbClr val="1F1A2B"/>
                </a:solidFill>
                <a:latin typeface="Calibri" pitchFamily="34" charset="0"/>
                <a:ea typeface="Calibri" pitchFamily="34" charset="-122"/>
                <a:cs typeface="Calibri" pitchFamily="34" charset="-120"/>
              </a:rPr>
              <a:t>Exported file</a:t>
            </a:r>
            <a:endParaRPr lang="en-US" sz="2100" dirty="0"/>
          </a:p>
        </p:txBody>
      </p:sp>
      <p:sp>
        <p:nvSpPr>
          <p:cNvPr id="8" name="Text 6"/>
          <p:cNvSpPr txBox="1"/>
          <p:nvPr/>
        </p:nvSpPr>
        <p:spPr>
          <a:xfrm>
            <a:off x="4633265" y="2331720"/>
            <a:ext cx="2926080" cy="1188720"/>
          </a:xfrm>
          <a:prstGeom prst="rect">
            <a:avLst/>
          </a:prstGeom>
          <a:noFill/>
          <a:ln/>
        </p:spPr>
        <p:txBody>
          <a:bodyPr wrap="square" lIns="0" tIns="0" rIns="0" bIns="0" rtlCol="0" anchor="t"/>
          <a:lstStyle/>
          <a:p>
            <a:pPr indent="0" marL="0">
              <a:lnSpc>
                <a:spcPct val="105000"/>
              </a:lnSpc>
              <a:buNone/>
            </a:pPr>
            <a:r>
              <a:rPr lang="en-US" sz="1600" dirty="0">
                <a:solidFill>
                  <a:srgbClr val="3A3646"/>
                </a:solidFill>
                <a:latin typeface="Calibri" pitchFamily="34" charset="0"/>
                <a:ea typeface="Calibri" pitchFamily="34" charset="-122"/>
                <a:cs typeface="Calibri" pitchFamily="34" charset="-120"/>
              </a:rPr>
              <a:t>All 86,400 test decisions are rechecked from the file against scikit-learn. Largest gap: 0.00000004. Decisions changed: 0.</a:t>
            </a:r>
            <a:endParaRPr lang="en-US" sz="1600" dirty="0"/>
          </a:p>
        </p:txBody>
      </p:sp>
      <p:sp>
        <p:nvSpPr>
          <p:cNvPr id="9" name="Shape 7"/>
          <p:cNvSpPr/>
          <p:nvPr/>
        </p:nvSpPr>
        <p:spPr>
          <a:xfrm>
            <a:off x="8077810" y="1463040"/>
            <a:ext cx="3535985" cy="2148840"/>
          </a:xfrm>
          <a:prstGeom prst="roundRect">
            <a:avLst>
              <a:gd name="adj" fmla="val 6809"/>
            </a:avLst>
          </a:prstGeom>
          <a:solidFill>
            <a:srgbClr val="F1ECF8"/>
          </a:solidFill>
          <a:ln w="12700">
            <a:solidFill>
              <a:srgbClr val="F1ECF8"/>
            </a:solidFill>
            <a:prstDash val="solid"/>
          </a:ln>
        </p:spPr>
      </p:sp>
      <p:sp>
        <p:nvSpPr>
          <p:cNvPr id="10" name="Text 8"/>
          <p:cNvSpPr txBox="1"/>
          <p:nvPr/>
        </p:nvSpPr>
        <p:spPr>
          <a:xfrm>
            <a:off x="8397850" y="1783080"/>
            <a:ext cx="2926080" cy="411480"/>
          </a:xfrm>
          <a:prstGeom prst="rect">
            <a:avLst/>
          </a:prstGeom>
          <a:noFill/>
          <a:ln/>
        </p:spPr>
        <p:txBody>
          <a:bodyPr wrap="square" lIns="0" tIns="0" rIns="0" bIns="0" rtlCol="0" anchor="t"/>
          <a:lstStyle/>
          <a:p>
            <a:pPr indent="0" marL="0">
              <a:buNone/>
            </a:pPr>
            <a:r>
              <a:rPr lang="en-US" sz="2100" b="1" dirty="0">
                <a:solidFill>
                  <a:srgbClr val="1F1A2B"/>
                </a:solidFill>
                <a:latin typeface="Calibri" pitchFamily="34" charset="0"/>
                <a:ea typeface="Calibri" pitchFamily="34" charset="-122"/>
                <a:cs typeface="Calibri" pitchFamily="34" charset="-120"/>
              </a:rPr>
              <a:t>Dart app</a:t>
            </a:r>
            <a:endParaRPr lang="en-US" sz="2100" dirty="0"/>
          </a:p>
        </p:txBody>
      </p:sp>
      <p:sp>
        <p:nvSpPr>
          <p:cNvPr id="11" name="Text 9"/>
          <p:cNvSpPr txBox="1"/>
          <p:nvPr/>
        </p:nvSpPr>
        <p:spPr>
          <a:xfrm>
            <a:off x="8397850" y="2331720"/>
            <a:ext cx="2926080" cy="1188720"/>
          </a:xfrm>
          <a:prstGeom prst="rect">
            <a:avLst/>
          </a:prstGeom>
          <a:noFill/>
          <a:ln/>
        </p:spPr>
        <p:txBody>
          <a:bodyPr wrap="square" lIns="0" tIns="0" rIns="0" bIns="0" rtlCol="0" anchor="t"/>
          <a:lstStyle/>
          <a:p>
            <a:pPr indent="0" marL="0">
              <a:lnSpc>
                <a:spcPct val="105000"/>
              </a:lnSpc>
              <a:buNone/>
            </a:pPr>
            <a:r>
              <a:rPr lang="en-US" sz="1600" dirty="0">
                <a:solidFill>
                  <a:srgbClr val="3A3646"/>
                </a:solidFill>
                <a:latin typeface="Calibri" pitchFamily="34" charset="0"/>
                <a:ea typeface="Calibri" pitchFamily="34" charset="-122"/>
                <a:cs typeface="Calibri" pitchFamily="34" charset="-120"/>
              </a:rPr>
              <a:t>48 texts go through the real Dart code. Every probability matches Python within 0.000001.</a:t>
            </a:r>
            <a:endParaRPr lang="en-US" sz="1600" dirty="0"/>
          </a:p>
        </p:txBody>
      </p:sp>
      <p:sp>
        <p:nvSpPr>
          <p:cNvPr id="12" name="Shape 10"/>
          <p:cNvSpPr/>
          <p:nvPr/>
        </p:nvSpPr>
        <p:spPr>
          <a:xfrm>
            <a:off x="548640" y="3977640"/>
            <a:ext cx="11064240" cy="731520"/>
          </a:xfrm>
          <a:prstGeom prst="roundRect">
            <a:avLst>
              <a:gd name="adj" fmla="val 20000"/>
            </a:avLst>
          </a:prstGeom>
          <a:solidFill>
            <a:srgbClr val="F7F4FB"/>
          </a:solidFill>
          <a:ln w="12700">
            <a:solidFill>
              <a:srgbClr val="F7F4FB"/>
            </a:solidFill>
            <a:prstDash val="solid"/>
          </a:ln>
        </p:spPr>
      </p:sp>
      <p:sp>
        <p:nvSpPr>
          <p:cNvPr id="13" name="Text 11"/>
          <p:cNvSpPr txBox="1"/>
          <p:nvPr/>
        </p:nvSpPr>
        <p:spPr>
          <a:xfrm>
            <a:off x="868680" y="4178808"/>
            <a:ext cx="10561320" cy="365760"/>
          </a:xfrm>
          <a:prstGeom prst="rect">
            <a:avLst/>
          </a:prstGeom>
          <a:noFill/>
          <a:ln/>
        </p:spPr>
        <p:txBody>
          <a:bodyPr wrap="square" lIns="0" tIns="0" rIns="0" bIns="0" rtlCol="0" anchor="t"/>
          <a:lstStyle/>
          <a:p>
            <a:pPr indent="0" marL="0">
              <a:buNone/>
            </a:pPr>
            <a:r>
              <a:rPr lang="en-US" sz="1600" b="1" dirty="0">
                <a:solidFill>
                  <a:srgbClr val="1F1A2B"/>
                </a:solidFill>
                <a:latin typeface="Calibri" pitchFamily="34" charset="0"/>
                <a:ea typeface="Calibri" pitchFamily="34" charset="-122"/>
                <a:cs typeface="Calibri" pitchFamily="34" charset="-120"/>
              </a:rPr>
              <a:t>I broke it on purpose to check. </a:t>
            </a:r>
            <a:pPr indent="0" marL="0">
              <a:buNone/>
            </a:pPr>
            <a:r>
              <a:rPr lang="en-US" sz="1600" dirty="0">
                <a:solidFill>
                  <a:srgbClr val="3A3646"/>
                </a:solidFill>
                <a:latin typeface="Calibri" pitchFamily="34" charset="0"/>
                <a:ea typeface="Calibri" pitchFamily="34" charset="-122"/>
                <a:cs typeface="Calibri" pitchFamily="34" charset="-120"/>
              </a:rPr>
              <a:t>Replacing 1 + ln(count) with the raw count made the Dart test fail (0.928 instead of 0.959).</a:t>
            </a:r>
            <a:endParaRPr lang="en-US" sz="16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The app</a:t>
            </a:r>
            <a:endParaRPr lang="en-US" sz="3000" dirty="0"/>
          </a:p>
        </p:txBody>
      </p:sp>
      <p:pic>
        <p:nvPicPr>
          <p:cNvPr id="3" name="Image 0" descr="Prediction screen">    </p:cNvPr>
          <p:cNvPicPr>
            <a:picLocks noChangeAspect="1"/>
          </p:cNvPicPr>
          <p:nvPr/>
        </p:nvPicPr>
        <p:blipFill>
          <a:blip r:embed="rId1"/>
          <a:stretch>
            <a:fillRect/>
          </a:stretch>
        </p:blipFill>
        <p:spPr>
          <a:xfrm>
            <a:off x="548640" y="1234440"/>
            <a:ext cx="2414595" cy="5084064"/>
          </a:xfrm>
          <a:prstGeom prst="rect">
            <a:avLst/>
          </a:prstGeom>
        </p:spPr>
      </p:pic>
      <p:sp>
        <p:nvSpPr>
          <p:cNvPr id="4" name="Shape 1"/>
          <p:cNvSpPr/>
          <p:nvPr/>
        </p:nvSpPr>
        <p:spPr>
          <a:xfrm>
            <a:off x="548640" y="1234440"/>
            <a:ext cx="2414595" cy="5084064"/>
          </a:xfrm>
          <a:prstGeom prst="rect">
            <a:avLst/>
          </a:prstGeom>
          <a:solidFill>
            <a:srgbClr val="FFFFFF">
              <a:alpha val="0"/>
            </a:srgbClr>
          </a:solidFill>
          <a:ln w="9525">
            <a:solidFill>
              <a:srgbClr val="DCD3EC"/>
            </a:solidFill>
            <a:prstDash val="solid"/>
          </a:ln>
        </p:spPr>
      </p:sp>
      <p:pic>
        <p:nvPicPr>
          <p:cNvPr id="5" name="Image 1" descr="About screen with the test scores">    </p:cNvPr>
          <p:cNvPicPr>
            <a:picLocks noChangeAspect="1"/>
          </p:cNvPicPr>
          <p:nvPr/>
        </p:nvPicPr>
        <p:blipFill>
          <a:blip r:embed="rId2"/>
          <a:stretch>
            <a:fillRect/>
          </a:stretch>
        </p:blipFill>
        <p:spPr>
          <a:xfrm>
            <a:off x="3237555" y="1234440"/>
            <a:ext cx="2414595" cy="5084064"/>
          </a:xfrm>
          <a:prstGeom prst="rect">
            <a:avLst/>
          </a:prstGeom>
        </p:spPr>
      </p:pic>
      <p:sp>
        <p:nvSpPr>
          <p:cNvPr id="6" name="Shape 2"/>
          <p:cNvSpPr/>
          <p:nvPr/>
        </p:nvSpPr>
        <p:spPr>
          <a:xfrm>
            <a:off x="3237555" y="1234440"/>
            <a:ext cx="2414595" cy="5084064"/>
          </a:xfrm>
          <a:prstGeom prst="rect">
            <a:avLst/>
          </a:prstGeom>
          <a:solidFill>
            <a:srgbClr val="FFFFFF">
              <a:alpha val="0"/>
            </a:srgbClr>
          </a:solidFill>
          <a:ln w="9525">
            <a:solidFill>
              <a:srgbClr val="DCD3EC"/>
            </a:solidFill>
            <a:prstDash val="solid"/>
          </a:ln>
        </p:spPr>
      </p:sp>
      <p:sp>
        <p:nvSpPr>
          <p:cNvPr id="7" name="Text 3"/>
          <p:cNvSpPr txBox="1"/>
          <p:nvPr/>
        </p:nvSpPr>
        <p:spPr>
          <a:xfrm>
            <a:off x="6263640" y="1417320"/>
            <a:ext cx="5394960" cy="384048"/>
          </a:xfrm>
          <a:prstGeom prst="rect">
            <a:avLst/>
          </a:prstGeom>
          <a:noFill/>
          <a:ln/>
        </p:spPr>
        <p:txBody>
          <a:bodyPr wrap="square" lIns="0" tIns="0" rIns="0" bIns="0" rtlCol="0" anchor="t"/>
          <a:lstStyle/>
          <a:p>
            <a:pPr indent="0" marL="0">
              <a:buNone/>
            </a:pPr>
            <a:r>
              <a:rPr lang="en-US" sz="2000" b="1" dirty="0">
                <a:solidFill>
                  <a:srgbClr val="1F1A2B"/>
                </a:solidFill>
                <a:latin typeface="Calibri" pitchFamily="34" charset="0"/>
                <a:ea typeface="Calibri" pitchFamily="34" charset="-122"/>
                <a:cs typeface="Calibri" pitchFamily="34" charset="-120"/>
              </a:rPr>
              <a:t>Runs in airplane mode</a:t>
            </a:r>
            <a:endParaRPr lang="en-US" sz="2000" dirty="0"/>
          </a:p>
        </p:txBody>
      </p:sp>
      <p:sp>
        <p:nvSpPr>
          <p:cNvPr id="8" name="Text 4"/>
          <p:cNvSpPr txBox="1"/>
          <p:nvPr/>
        </p:nvSpPr>
        <p:spPr>
          <a:xfrm>
            <a:off x="6263640" y="1828800"/>
            <a:ext cx="5394960" cy="548640"/>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Tested on an Android emulator with the network off.</a:t>
            </a:r>
            <a:endParaRPr lang="en-US" sz="1500" dirty="0"/>
          </a:p>
        </p:txBody>
      </p:sp>
      <p:sp>
        <p:nvSpPr>
          <p:cNvPr id="9" name="Text 5"/>
          <p:cNvSpPr txBox="1"/>
          <p:nvPr/>
        </p:nvSpPr>
        <p:spPr>
          <a:xfrm>
            <a:off x="6263640" y="2587752"/>
            <a:ext cx="5394960" cy="384048"/>
          </a:xfrm>
          <a:prstGeom prst="rect">
            <a:avLst/>
          </a:prstGeom>
          <a:noFill/>
          <a:ln/>
        </p:spPr>
        <p:txBody>
          <a:bodyPr wrap="square" lIns="0" tIns="0" rIns="0" bIns="0" rtlCol="0" anchor="t"/>
          <a:lstStyle/>
          <a:p>
            <a:pPr indent="0" marL="0">
              <a:buNone/>
            </a:pPr>
            <a:r>
              <a:rPr lang="en-US" sz="2000" b="1" dirty="0">
                <a:solidFill>
                  <a:srgbClr val="1F1A2B"/>
                </a:solidFill>
                <a:latin typeface="Calibri" pitchFamily="34" charset="0"/>
                <a:ea typeface="Calibri" pitchFamily="34" charset="-122"/>
                <a:cs typeface="Calibri" pitchFamily="34" charset="-120"/>
              </a:rPr>
              <a:t>No internet permission</a:t>
            </a:r>
            <a:endParaRPr lang="en-US" sz="2000" dirty="0"/>
          </a:p>
        </p:txBody>
      </p:sp>
      <p:sp>
        <p:nvSpPr>
          <p:cNvPr id="10" name="Text 6"/>
          <p:cNvSpPr txBox="1"/>
          <p:nvPr/>
        </p:nvSpPr>
        <p:spPr>
          <a:xfrm>
            <a:off x="6263640" y="2999232"/>
            <a:ext cx="5394960" cy="548640"/>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The Android release build doesn’t ask for it.</a:t>
            </a:r>
            <a:endParaRPr lang="en-US" sz="1500" dirty="0"/>
          </a:p>
        </p:txBody>
      </p:sp>
      <p:sp>
        <p:nvSpPr>
          <p:cNvPr id="11" name="Text 7"/>
          <p:cNvSpPr txBox="1"/>
          <p:nvPr/>
        </p:nvSpPr>
        <p:spPr>
          <a:xfrm>
            <a:off x="6263640" y="3758184"/>
            <a:ext cx="5394960" cy="384048"/>
          </a:xfrm>
          <a:prstGeom prst="rect">
            <a:avLst/>
          </a:prstGeom>
          <a:noFill/>
          <a:ln/>
        </p:spPr>
        <p:txBody>
          <a:bodyPr wrap="square" lIns="0" tIns="0" rIns="0" bIns="0" rtlCol="0" anchor="t"/>
          <a:lstStyle/>
          <a:p>
            <a:pPr indent="0" marL="0">
              <a:buNone/>
            </a:pPr>
            <a:r>
              <a:rPr lang="en-US" sz="2000" b="1" dirty="0">
                <a:solidFill>
                  <a:srgbClr val="1F1A2B"/>
                </a:solidFill>
                <a:latin typeface="Calibri" pitchFamily="34" charset="0"/>
                <a:ea typeface="Calibri" pitchFamily="34" charset="-122"/>
                <a:cs typeface="Calibri" pitchFamily="34" charset="-120"/>
              </a:rPr>
              <a:t>About 1 ms per prediction</a:t>
            </a:r>
            <a:endParaRPr lang="en-US" sz="2000" dirty="0"/>
          </a:p>
        </p:txBody>
      </p:sp>
      <p:sp>
        <p:nvSpPr>
          <p:cNvPr id="12" name="Text 8"/>
          <p:cNvSpPr txBox="1"/>
          <p:nvPr/>
        </p:nvSpPr>
        <p:spPr>
          <a:xfrm>
            <a:off x="6263640" y="4169664"/>
            <a:ext cx="5394960" cy="548640"/>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Measured on a laptop. The model is a dot product.</a:t>
            </a:r>
            <a:endParaRPr lang="en-US" sz="1500" dirty="0"/>
          </a:p>
        </p:txBody>
      </p:sp>
      <p:sp>
        <p:nvSpPr>
          <p:cNvPr id="13" name="Text 9"/>
          <p:cNvSpPr txBox="1"/>
          <p:nvPr/>
        </p:nvSpPr>
        <p:spPr>
          <a:xfrm>
            <a:off x="6263640" y="4928616"/>
            <a:ext cx="5394960" cy="384048"/>
          </a:xfrm>
          <a:prstGeom prst="rect">
            <a:avLst/>
          </a:prstGeom>
          <a:noFill/>
          <a:ln/>
        </p:spPr>
        <p:txBody>
          <a:bodyPr wrap="square" lIns="0" tIns="0" rIns="0" bIns="0" rtlCol="0" anchor="t"/>
          <a:lstStyle/>
          <a:p>
            <a:pPr indent="0" marL="0">
              <a:buNone/>
            </a:pPr>
            <a:r>
              <a:rPr lang="en-US" sz="2000" b="1" dirty="0">
                <a:solidFill>
                  <a:srgbClr val="1F1A2B"/>
                </a:solidFill>
                <a:latin typeface="Calibri" pitchFamily="34" charset="0"/>
                <a:ea typeface="Calibri" pitchFamily="34" charset="-122"/>
                <a:cs typeface="Calibri" pitchFamily="34" charset="-120"/>
              </a:rPr>
              <a:t>Shows its reasons</a:t>
            </a:r>
            <a:endParaRPr lang="en-US" sz="2000" dirty="0"/>
          </a:p>
        </p:txBody>
      </p:sp>
      <p:sp>
        <p:nvSpPr>
          <p:cNvPr id="14" name="Text 10"/>
          <p:cNvSpPr txBox="1"/>
          <p:nvPr/>
        </p:nvSpPr>
        <p:spPr>
          <a:xfrm>
            <a:off x="6263640" y="5340096"/>
            <a:ext cx="5394960" cy="548640"/>
          </a:xfrm>
          <a:prstGeom prst="rect">
            <a:avLst/>
          </a:prstGeom>
          <a:noFill/>
          <a:ln/>
        </p:spPr>
        <p:txBody>
          <a:bodyPr wrap="square" lIns="0" tIns="0" rIns="0" bIns="0" rtlCol="0" anchor="t"/>
          <a:lstStyle/>
          <a:p>
            <a:pPr indent="0" marL="0">
              <a:buNone/>
            </a:pPr>
            <a:r>
              <a:rPr lang="en-US" sz="1500" dirty="0">
                <a:solidFill>
                  <a:srgbClr val="3A3646"/>
                </a:solidFill>
                <a:latin typeface="Calibri" pitchFamily="34" charset="0"/>
                <a:ea typeface="Calibri" pitchFamily="34" charset="-122"/>
                <a:cs typeface="Calibri" pitchFamily="34" charset="-120"/>
              </a:rPr>
              <a:t>The words that pushed each genre up, plus the test scores.</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Bugs caught along the way</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4572000"/>
                <a:gridCol w="3749040"/>
              </a:tblGrid>
              <a:tr h="0">
                <a:tc>
                  <a:txBody>
                    <a:bodyPr/>
                    <a:lstStyle/>
                    <a:p>
                      <a:pPr indent="0" marL="0">
                        <a:buNone/>
                      </a:pPr>
                      <a:r>
                        <a:rPr lang="en-US" sz="1600" b="1" dirty="0">
                          <a:solidFill>
                            <a:srgbClr val="1F1A2B"/>
                          </a:solidFill>
                          <a:latin typeface="Calibri" pitchFamily="34" charset="0"/>
                          <a:ea typeface="Calibri" pitchFamily="34" charset="-122"/>
                          <a:cs typeface="Calibri" pitchFamily="34" charset="-120"/>
                        </a:rPr>
                        <a:t>Bug</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solidFill>
                      <a:srgbClr val="F1ECF8"/>
                    </a:solidFill>
                  </a:tcPr>
                </a:tc>
                <a:tc>
                  <a:txBody>
                    <a:bodyPr/>
                    <a:lstStyle/>
                    <a:p>
                      <a:pPr indent="0" marL="0">
                        <a:buNone/>
                      </a:pPr>
                      <a:r>
                        <a:rPr lang="en-US" sz="1600" b="1" dirty="0">
                          <a:solidFill>
                            <a:srgbClr val="1F1A2B"/>
                          </a:solidFill>
                          <a:latin typeface="Calibri" pitchFamily="34" charset="0"/>
                          <a:ea typeface="Calibri" pitchFamily="34" charset="-122"/>
                          <a:cs typeface="Calibri" pitchFamily="34" charset="-120"/>
                        </a:rPr>
                        <a:t>Why it happened</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solidFill>
                      <a:srgbClr val="F1ECF8"/>
                    </a:solidFill>
                  </a:tcPr>
                </a:tc>
                <a:tc>
                  <a:txBody>
                    <a:bodyPr/>
                    <a:lstStyle/>
                    <a:p>
                      <a:pPr indent="0" marL="0">
                        <a:buNone/>
                      </a:pPr>
                      <a:r>
                        <a:rPr lang="en-US" sz="1600" b="1" dirty="0">
                          <a:solidFill>
                            <a:srgbClr val="1F1A2B"/>
                          </a:solidFill>
                          <a:latin typeface="Calibri" pitchFamily="34" charset="0"/>
                          <a:ea typeface="Calibri" pitchFamily="34" charset="-122"/>
                          <a:cs typeface="Calibri" pitchFamily="34" charset="-120"/>
                        </a:rPr>
                        <a:t>Fix</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solidFill>
                      <a:srgbClr val="F1ECF8"/>
                    </a:solidFill>
                  </a:tcPr>
                </a:tc>
              </a:tr>
              <a:tr h="0">
                <a:tc>
                  <a:txBody>
                    <a:bodyPr/>
                    <a:lstStyle/>
                    <a:p>
                      <a:pPr indent="0" marL="0">
                        <a:buNone/>
                      </a:pPr>
                      <a:r>
                        <a:rPr lang="en-US" sz="1600" b="1" dirty="0">
                          <a:solidFill>
                            <a:srgbClr val="1F1A2B"/>
                          </a:solidFill>
                          <a:latin typeface="Calibri" pitchFamily="34" charset="0"/>
                          <a:ea typeface="Calibri" pitchFamily="34" charset="-122"/>
                          <a:cs typeface="Calibri" pitchFamily="34" charset="-120"/>
                        </a:rPr>
                        <a:t>An empty box said “Drama”</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tcPr>
                </a:tc>
                <a:tc>
                  <a:txBody>
                    <a:bodyPr/>
                    <a:lstStyle/>
                    <a:p>
                      <a:pPr indent="0" marL="0">
                        <a:buNone/>
                      </a:pPr>
                      <a:r>
                        <a:rPr lang="en-US" sz="1600" dirty="0">
                          <a:solidFill>
                            <a:srgbClr val="3A3646"/>
                          </a:solidFill>
                          <a:latin typeface="Calibri" pitchFamily="34" charset="0"/>
                          <a:ea typeface="Calibri" pitchFamily="34" charset="-122"/>
                          <a:cs typeface="Calibri" pitchFamily="34" charset="-120"/>
                        </a:rPr>
                        <a:t>With no known words, each genre falls back to its intercept. For Drama that gives 0.391, just over its 0.39 threshold.</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tcPr>
                </a:tc>
                <a:tc>
                  <a:txBody>
                    <a:bodyPr/>
                    <a:lstStyle/>
                    <a:p>
                      <a:pPr indent="0" marL="0">
                        <a:buNone/>
                      </a:pPr>
                      <a:r>
                        <a:rPr lang="en-US" sz="1600" dirty="0">
                          <a:solidFill>
                            <a:srgbClr val="3A3646"/>
                          </a:solidFill>
                          <a:latin typeface="Calibri" pitchFamily="34" charset="0"/>
                          <a:ea typeface="Calibri" pitchFamily="34" charset="-122"/>
                          <a:cs typeface="Calibri" pitchFamily="34" charset="-120"/>
                        </a:rPr>
                        <a:t>The app asks for a plot, and shows no genres when it knows none of the words.</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tcPr>
                </a:tc>
              </a:tr>
              <a:tr h="0">
                <a:tc>
                  <a:txBody>
                    <a:bodyPr/>
                    <a:lstStyle/>
                    <a:p>
                      <a:pPr indent="0" marL="0">
                        <a:buNone/>
                      </a:pPr>
                      <a:r>
                        <a:rPr lang="en-US" sz="1600" b="1" dirty="0">
                          <a:solidFill>
                            <a:srgbClr val="1F1A2B"/>
                          </a:solidFill>
                          <a:latin typeface="Calibri" pitchFamily="34" charset="0"/>
                          <a:ea typeface="Calibri" pitchFamily="34" charset="-122"/>
                          <a:cs typeface="Calibri" pitchFamily="34" charset="-120"/>
                        </a:rPr>
                        <a:t>An accessibility error</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tcPr>
                </a:tc>
                <a:tc>
                  <a:txBody>
                    <a:bodyPr/>
                    <a:lstStyle/>
                    <a:p>
                      <a:pPr indent="0" marL="0">
                        <a:buNone/>
                      </a:pPr>
                      <a:r>
                        <a:rPr lang="en-US" sz="1600" dirty="0">
                          <a:solidFill>
                            <a:srgbClr val="3A3646"/>
                          </a:solidFill>
                          <a:latin typeface="Calibri" pitchFamily="34" charset="0"/>
                          <a:ea typeface="Calibri" pitchFamily="34" charset="-122"/>
                          <a:cs typeface="Calibri" pitchFamily="34" charset="-120"/>
                        </a:rPr>
                        <a:t>The probability bar gave screen readers text where Flutter expects a number. A widget test caught it.</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tcPr>
                </a:tc>
                <a:tc>
                  <a:txBody>
                    <a:bodyPr/>
                    <a:lstStyle/>
                    <a:p>
                      <a:pPr indent="0" marL="0">
                        <a:buNone/>
                      </a:pPr>
                      <a:r>
                        <a:rPr lang="en-US" sz="1600" dirty="0">
                          <a:solidFill>
                            <a:srgbClr val="3A3646"/>
                          </a:solidFill>
                          <a:latin typeface="Calibri" pitchFamily="34" charset="0"/>
                          <a:ea typeface="Calibri" pitchFamily="34" charset="-122"/>
                          <a:cs typeface="Calibri" pitchFamily="34" charset="-120"/>
                        </a:rPr>
                        <a:t>The bar is hidden from screen readers. The card already says both numbers.</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tcPr>
                </a:tc>
              </a:tr>
              <a:tr h="0">
                <a:tc>
                  <a:txBody>
                    <a:bodyPr/>
                    <a:lstStyle/>
                    <a:p>
                      <a:pPr indent="0" marL="0">
                        <a:buNone/>
                      </a:pPr>
                      <a:r>
                        <a:rPr lang="en-US" sz="1600" b="1" dirty="0">
                          <a:solidFill>
                            <a:srgbClr val="1F1A2B"/>
                          </a:solidFill>
                          <a:latin typeface="Calibri" pitchFamily="34" charset="0"/>
                          <a:ea typeface="Calibri" pitchFamily="34" charset="-122"/>
                          <a:cs typeface="Calibri" pitchFamily="34" charset="-120"/>
                        </a:rPr>
                        <a:t>Rounding twice</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tcPr>
                </a:tc>
                <a:tc>
                  <a:txBody>
                    <a:bodyPr/>
                    <a:lstStyle/>
                    <a:p>
                      <a:pPr indent="0" marL="0">
                        <a:buNone/>
                      </a:pPr>
                      <a:r>
                        <a:rPr lang="en-US" sz="1600" dirty="0">
                          <a:solidFill>
                            <a:srgbClr val="3A3646"/>
                          </a:solidFill>
                          <a:latin typeface="Calibri" pitchFamily="34" charset="0"/>
                          <a:ea typeface="Calibri" pitchFamily="34" charset="-122"/>
                          <a:cs typeface="Calibri" pitchFamily="34" charset="-120"/>
                        </a:rPr>
                        <a:t>Scores were rounded to 4 decimals, then printed to 3, so micro-F1 showed 0.642 instead of 0.643.</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tcPr>
                </a:tc>
                <a:tc>
                  <a:txBody>
                    <a:bodyPr/>
                    <a:lstStyle/>
                    <a:p>
                      <a:pPr indent="0" marL="0">
                        <a:buNone/>
                      </a:pPr>
                      <a:r>
                        <a:rPr lang="en-US" sz="1600" dirty="0">
                          <a:solidFill>
                            <a:srgbClr val="3A3646"/>
                          </a:solidFill>
                          <a:latin typeface="Calibri" pitchFamily="34" charset="0"/>
                          <a:ea typeface="Calibri" pitchFamily="34" charset="-122"/>
                          <a:cs typeface="Calibri" pitchFamily="34" charset="-120"/>
                        </a:rPr>
                        <a:t>Everything is rounded once, when the results are written.</a:t>
                      </a:r>
                      <a:endParaRPr lang="en-US" sz="1600" dirty="0">
                        <a:latin typeface="Calibri" charset="0"/>
                        <a:ea typeface="Calibri" charset="0"/>
                        <a:cs typeface="Calibri" charset="0"/>
                      </a:endParaRPr>
                    </a:p>
                  </a:txBody>
                  <a:tcPr marL="146304" marR="146304" marT="109728" marB="109728" anchor="t">
                    <a:lnL w="9525" cap="flat" cmpd="sng" algn="ctr">
                      <a:solidFill>
                        <a:srgbClr val="DCD3EC"/>
                      </a:solidFill>
                      <a:prstDash val="solid"/>
                      <a:round/>
                      <a:headEnd type="none" w="med" len="med"/>
                      <a:tailEnd type="none" w="med" len="med"/>
                    </a:lnL>
                    <a:lnR w="9525" cap="flat" cmpd="sng" algn="ctr">
                      <a:solidFill>
                        <a:srgbClr val="DCD3EC"/>
                      </a:solidFill>
                      <a:prstDash val="solid"/>
                      <a:round/>
                      <a:headEnd type="none" w="med" len="med"/>
                      <a:tailEnd type="none" w="med" len="med"/>
                    </a:lnR>
                    <a:lnT w="9525" cap="flat" cmpd="sng" algn="ctr">
                      <a:solidFill>
                        <a:srgbClr val="DCD3EC"/>
                      </a:solidFill>
                      <a:prstDash val="solid"/>
                      <a:round/>
                      <a:headEnd type="none" w="med" len="med"/>
                      <a:tailEnd type="none" w="med" len="med"/>
                    </a:lnT>
                    <a:lnB w="9525" cap="flat" cmpd="sng" algn="ctr">
                      <a:solidFill>
                        <a:srgbClr val="DCD3E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t"/>
          <a:lstStyle/>
          <a:p>
            <a:pPr algn="l" indent="0" marL="0">
              <a:buNone/>
            </a:pPr>
            <a:r>
              <a:rPr lang="en-US" sz="3000" dirty="0">
                <a:solidFill>
                  <a:srgbClr val="1F1A2B"/>
                </a:solidFill>
                <a:latin typeface="Georgia" pitchFamily="34" charset="0"/>
                <a:ea typeface="Georgia" pitchFamily="34" charset="-122"/>
                <a:cs typeface="Georgia" pitchFamily="34" charset="-120"/>
              </a:rPr>
              <a:t>What’s still wrong, and what’s next</a:t>
            </a:r>
            <a:endParaRPr lang="en-US" sz="3000" dirty="0"/>
          </a:p>
        </p:txBody>
      </p:sp>
      <p:sp>
        <p:nvSpPr>
          <p:cNvPr id="3" name="Text 1"/>
          <p:cNvSpPr txBox="1"/>
          <p:nvPr/>
        </p:nvSpPr>
        <p:spPr>
          <a:xfrm>
            <a:off x="548640" y="1417320"/>
            <a:ext cx="5394960" cy="365760"/>
          </a:xfrm>
          <a:prstGeom prst="rect">
            <a:avLst/>
          </a:prstGeom>
          <a:noFill/>
          <a:ln/>
        </p:spPr>
        <p:txBody>
          <a:bodyPr wrap="square" lIns="0" tIns="0" rIns="0" bIns="0" rtlCol="0" anchor="t"/>
          <a:lstStyle/>
          <a:p>
            <a:pPr indent="0" marL="0">
              <a:buNone/>
            </a:pPr>
            <a:r>
              <a:rPr lang="en-US" sz="1900" b="1" dirty="0">
                <a:solidFill>
                  <a:srgbClr val="1F1A2B"/>
                </a:solidFill>
                <a:latin typeface="Calibri" pitchFamily="34" charset="0"/>
                <a:ea typeface="Calibri" pitchFamily="34" charset="-122"/>
                <a:cs typeface="Calibri" pitchFamily="34" charset="-120"/>
              </a:rPr>
              <a:t>Limitations</a:t>
            </a:r>
            <a:endParaRPr lang="en-US" sz="1900" dirty="0"/>
          </a:p>
        </p:txBody>
      </p:sp>
      <p:sp>
        <p:nvSpPr>
          <p:cNvPr id="4" name="Text 2"/>
          <p:cNvSpPr txBox="1"/>
          <p:nvPr/>
        </p:nvSpPr>
        <p:spPr>
          <a:xfrm>
            <a:off x="548640" y="1920240"/>
            <a:ext cx="548640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A3646"/>
                </a:solidFill>
                <a:latin typeface="Calibri" pitchFamily="34" charset="0"/>
                <a:ea typeface="Calibri" pitchFamily="34" charset="-122"/>
                <a:cs typeface="Calibri" pitchFamily="34" charset="-120"/>
              </a:rPr>
              <a:t>Series sit in both train and test. Stooges plots: 135 in training, 39 in test.</a:t>
            </a:r>
            <a:endParaRPr lang="en-US" sz="1600" dirty="0"/>
          </a:p>
          <a:p>
            <a:pPr marL="342900" indent="-342900">
              <a:spcAft>
                <a:spcPts val="1000"/>
              </a:spcAft>
              <a:buSzPct val="100000"/>
              <a:buChar char="•"/>
            </a:pPr>
            <a:r>
              <a:rPr lang="en-US" sz="1600" dirty="0">
                <a:solidFill>
                  <a:srgbClr val="3A3646"/>
                </a:solidFill>
                <a:latin typeface="Calibri" pitchFamily="34" charset="0"/>
                <a:ea typeface="Calibri" pitchFamily="34" charset="-122"/>
                <a:cs typeface="Calibri" pitchFamily="34" charset="-120"/>
              </a:rPr>
              <a:t>Labels are incomplete. The Double, a CIA thriller, isn’t tagged Thriller.</a:t>
            </a:r>
            <a:endParaRPr lang="en-US" sz="1600" dirty="0"/>
          </a:p>
          <a:p>
            <a:pPr marL="342900" indent="-342900">
              <a:spcAft>
                <a:spcPts val="1000"/>
              </a:spcAft>
              <a:buSzPct val="100000"/>
              <a:buChar char="•"/>
            </a:pPr>
            <a:r>
              <a:rPr lang="en-US" sz="1600" dirty="0">
                <a:solidFill>
                  <a:srgbClr val="3A3646"/>
                </a:solidFill>
                <a:latin typeface="Calibri" pitchFamily="34" charset="0"/>
                <a:ea typeface="Calibri" pitchFamily="34" charset="-122"/>
                <a:cs typeface="Calibri" pitchFamily="34" charset="-120"/>
              </a:rPr>
              <a:t>It reads words, not order: “the police chase the gang” looks the same as “the gang chase the police”.</a:t>
            </a:r>
            <a:endParaRPr lang="en-US" sz="1600" dirty="0"/>
          </a:p>
          <a:p>
            <a:pPr marL="342900" indent="-342900">
              <a:spcAft>
                <a:spcPts val="1000"/>
              </a:spcAft>
              <a:buSzPct val="100000"/>
              <a:buChar char="•"/>
            </a:pPr>
            <a:r>
              <a:rPr lang="en-US" sz="1600" dirty="0">
                <a:solidFill>
                  <a:srgbClr val="3A3646"/>
                </a:solidFill>
                <a:latin typeface="Calibri" pitchFamily="34" charset="0"/>
                <a:ea typeface="Calibri" pitchFamily="34" charset="-122"/>
                <a:cs typeface="Calibri" pitchFamily="34" charset="-120"/>
              </a:rPr>
              <a:t>It only really works on Wikipedia-style English.</a:t>
            </a:r>
            <a:endParaRPr lang="en-US" sz="1600" dirty="0"/>
          </a:p>
        </p:txBody>
      </p:sp>
      <p:sp>
        <p:nvSpPr>
          <p:cNvPr id="5" name="Text 3"/>
          <p:cNvSpPr txBox="1"/>
          <p:nvPr/>
        </p:nvSpPr>
        <p:spPr>
          <a:xfrm>
            <a:off x="6400800" y="1417320"/>
            <a:ext cx="5212080" cy="365760"/>
          </a:xfrm>
          <a:prstGeom prst="rect">
            <a:avLst/>
          </a:prstGeom>
          <a:noFill/>
          <a:ln/>
        </p:spPr>
        <p:txBody>
          <a:bodyPr wrap="square" lIns="0" tIns="0" rIns="0" bIns="0" rtlCol="0" anchor="t"/>
          <a:lstStyle/>
          <a:p>
            <a:pPr indent="0" marL="0">
              <a:buNone/>
            </a:pPr>
            <a:r>
              <a:rPr lang="en-US" sz="1900" b="1" dirty="0">
                <a:solidFill>
                  <a:srgbClr val="1F1A2B"/>
                </a:solidFill>
                <a:latin typeface="Calibri" pitchFamily="34" charset="0"/>
                <a:ea typeface="Calibri" pitchFamily="34" charset="-122"/>
                <a:cs typeface="Calibri" pitchFamily="34" charset="-120"/>
              </a:rPr>
              <a:t>Next</a:t>
            </a:r>
            <a:endParaRPr lang="en-US" sz="1900" dirty="0"/>
          </a:p>
        </p:txBody>
      </p:sp>
      <p:sp>
        <p:nvSpPr>
          <p:cNvPr id="6" name="Text 4"/>
          <p:cNvSpPr txBox="1"/>
          <p:nvPr/>
        </p:nvSpPr>
        <p:spPr>
          <a:xfrm>
            <a:off x="6400800" y="1920240"/>
            <a:ext cx="521208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A3646"/>
                </a:solidFill>
                <a:latin typeface="Calibri" pitchFamily="34" charset="0"/>
                <a:ea typeface="Calibri" pitchFamily="34" charset="-122"/>
                <a:cs typeface="Calibri" pitchFamily="34" charset="-120"/>
              </a:rPr>
              <a:t>Split by film series, not by film</a:t>
            </a:r>
            <a:endParaRPr lang="en-US" sz="1600" dirty="0"/>
          </a:p>
          <a:p>
            <a:pPr marL="342900" indent="-342900">
              <a:spcAft>
                <a:spcPts val="1000"/>
              </a:spcAft>
              <a:buSzPct val="100000"/>
              <a:buChar char="•"/>
            </a:pPr>
            <a:r>
              <a:rPr lang="en-US" sz="1600" dirty="0">
                <a:solidFill>
                  <a:srgbClr val="3A3646"/>
                </a:solidFill>
                <a:latin typeface="Calibri" pitchFamily="34" charset="0"/>
                <a:ea typeface="Calibri" pitchFamily="34" charset="-122"/>
                <a:cs typeface="Calibri" pitchFamily="34" charset="-120"/>
              </a:rPr>
              <a:t>Check whether the probabilities are calibrated</a:t>
            </a:r>
            <a:endParaRPr lang="en-US" sz="1600" dirty="0"/>
          </a:p>
          <a:p>
            <a:pPr marL="342900" indent="-342900">
              <a:spcAft>
                <a:spcPts val="1000"/>
              </a:spcAft>
              <a:buSzPct val="100000"/>
              <a:buChar char="•"/>
            </a:pPr>
            <a:r>
              <a:rPr lang="en-US" sz="1600" dirty="0">
                <a:solidFill>
                  <a:srgbClr val="3A3646"/>
                </a:solidFill>
                <a:latin typeface="Calibri" pitchFamily="34" charset="0"/>
                <a:ea typeface="Calibri" pitchFamily="34" charset="-122"/>
                <a:cs typeface="Calibri" pitchFamily="34" charset="-120"/>
              </a:rPr>
              <a:t>Classifier chains, so genres can inform each other</a:t>
            </a:r>
            <a:endParaRPr lang="en-US" sz="1600" dirty="0"/>
          </a:p>
          <a:p>
            <a:pPr marL="342900" indent="-342900">
              <a:spcAft>
                <a:spcPts val="1000"/>
              </a:spcAft>
              <a:buSzPct val="100000"/>
              <a:buChar char="•"/>
            </a:pPr>
            <a:r>
              <a:rPr lang="en-US" sz="1600" dirty="0">
                <a:solidFill>
                  <a:srgbClr val="3A3646"/>
                </a:solidFill>
                <a:latin typeface="Calibri" pitchFamily="34" charset="0"/>
                <a:ea typeface="Calibri" pitchFamily="34" charset="-122"/>
                <a:cs typeface="Calibri" pitchFamily="34" charset="-120"/>
              </a:rPr>
              <a:t>A smaller model file (16-bit weights)</a:t>
            </a:r>
            <a:endParaRPr lang="en-US" sz="16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87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783080"/>
            <a:ext cx="6949440" cy="1737360"/>
          </a:xfrm>
          <a:prstGeom prst="rect">
            <a:avLst/>
          </a:prstGeom>
          <a:noFill/>
          <a:ln/>
        </p:spPr>
        <p:txBody>
          <a:bodyPr wrap="square" lIns="0" tIns="0" rIns="0" bIns="0" rtlCol="0" anchor="t"/>
          <a:lstStyle/>
          <a:p>
            <a:pPr algn="l" indent="0" marL="0">
              <a:buNone/>
            </a:pPr>
            <a:r>
              <a:rPr lang="en-US" sz="5000" dirty="0">
                <a:solidFill>
                  <a:srgbClr val="FFFFFF"/>
                </a:solidFill>
                <a:latin typeface="Georgia" pitchFamily="34" charset="0"/>
                <a:ea typeface="Georgia" pitchFamily="34" charset="-122"/>
                <a:cs typeface="Georgia" pitchFamily="34" charset="-120"/>
              </a:rPr>
              <a:t>Thanks</a:t>
            </a:r>
            <a:endParaRPr lang="en-US" sz="5000" dirty="0"/>
          </a:p>
        </p:txBody>
      </p:sp>
      <p:sp>
        <p:nvSpPr>
          <p:cNvPr id="3" name="Text 1"/>
          <p:cNvSpPr txBox="1"/>
          <p:nvPr/>
        </p:nvSpPr>
        <p:spPr>
          <a:xfrm>
            <a:off x="731520" y="3063240"/>
            <a:ext cx="10058400" cy="548640"/>
          </a:xfrm>
          <a:prstGeom prst="rect">
            <a:avLst/>
          </a:prstGeom>
          <a:noFill/>
          <a:ln/>
        </p:spPr>
        <p:txBody>
          <a:bodyPr wrap="square" lIns="0" tIns="0" rIns="0" bIns="0" rtlCol="0" anchor="ctr"/>
          <a:lstStyle/>
          <a:p>
            <a:pPr indent="0" marL="0">
              <a:buNone/>
            </a:pPr>
            <a:r>
              <a:rPr lang="en-US" sz="2200" dirty="0">
                <a:solidFill>
                  <a:srgbClr val="CFC6E6"/>
                </a:solidFill>
                <a:latin typeface="Calibri" pitchFamily="34" charset="0"/>
                <a:ea typeface="Calibri" pitchFamily="34" charset="-122"/>
                <a:cs typeface="Calibri" pitchFamily="34" charset="-120"/>
              </a:rPr>
              <a:t>Questions? Or give me a plot and I’ll run it.</a:t>
            </a:r>
            <a:endParaRPr lang="en-US" sz="2200" dirty="0"/>
          </a:p>
        </p:txBody>
      </p:sp>
      <p:sp>
        <p:nvSpPr>
          <p:cNvPr id="4" name="Text 2"/>
          <p:cNvSpPr txBox="1"/>
          <p:nvPr/>
        </p:nvSpPr>
        <p:spPr>
          <a:xfrm>
            <a:off x="731520" y="5806440"/>
            <a:ext cx="10515600" cy="365760"/>
          </a:xfrm>
          <a:prstGeom prst="rect">
            <a:avLst/>
          </a:prstGeom>
          <a:noFill/>
          <a:ln/>
        </p:spPr>
        <p:txBody>
          <a:bodyPr wrap="square" lIns="0" tIns="0" rIns="0" bIns="0" rtlCol="0" anchor="ctr"/>
          <a:lstStyle/>
          <a:p>
            <a:pPr indent="0" marL="0">
              <a:buNone/>
            </a:pPr>
            <a:r>
              <a:rPr lang="en-US" sz="1300" dirty="0">
                <a:solidFill>
                  <a:srgbClr val="A79FBF"/>
                </a:solidFill>
                <a:latin typeface="Calibri" pitchFamily="34" charset="0"/>
                <a:ea typeface="Calibri" pitchFamily="34" charset="-122"/>
                <a:cs typeface="Calibri" pitchFamily="34" charset="-120"/>
              </a:rPr>
              <a:t>Data: CMU Movie Summary Corpus (Bamman, O’Connor and Smith, 2013), CC BY-SA 3.0 US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genre is this movie?</dc:title>
  <dc:subject>Capstone project: predicting movie genres from plot summaries</dc:subject>
  <dc:creator>Zariff</dc:creator>
  <cp:lastModifiedBy>Zariff</cp:lastModifiedBy>
  <cp:revision>1</cp:revision>
  <dcterms:created xsi:type="dcterms:W3CDTF">2026-10-01T15:15:20Z</dcterms:created>
  <dcterms:modified xsi:type="dcterms:W3CDTF">2026-10-01T15:15:20Z</dcterms:modified>
</cp:coreProperties>
</file>